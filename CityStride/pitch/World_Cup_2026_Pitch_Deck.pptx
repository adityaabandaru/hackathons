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rot="1080000">
            <a:off x="7863840" y="-274320"/>
            <a:ext cx="0" cy="7406640"/>
          </a:xfrm>
          <a:prstGeom prst="line">
            <a:avLst/>
          </a:prstGeom>
          <a:noFill/>
          <a:ln w="1143000">
            <a:solidFill>
              <a:srgbClr val="141A45"/>
            </a:solidFill>
            <a:prstDash val="solid"/>
          </a:ln>
        </p:spPr>
      </p:sp>
      <p:sp>
        <p:nvSpPr>
          <p:cNvPr id="3" name="Shape 1"/>
          <p:cNvSpPr/>
          <p:nvPr/>
        </p:nvSpPr>
        <p:spPr>
          <a:xfrm rot="1080000">
            <a:off x="8366760" y="-274320"/>
            <a:ext cx="0" cy="7406640"/>
          </a:xfrm>
          <a:prstGeom prst="line">
            <a:avLst/>
          </a:prstGeom>
          <a:noFill/>
          <a:ln w="1143000">
            <a:solidFill>
              <a:srgbClr val="141A45"/>
            </a:solidFill>
            <a:prstDash val="solid"/>
          </a:ln>
        </p:spPr>
      </p:sp>
      <p:sp>
        <p:nvSpPr>
          <p:cNvPr id="4" name="Shape 2"/>
          <p:cNvSpPr/>
          <p:nvPr/>
        </p:nvSpPr>
        <p:spPr>
          <a:xfrm rot="1080000">
            <a:off x="8869680" y="-274320"/>
            <a:ext cx="0" cy="7406640"/>
          </a:xfrm>
          <a:prstGeom prst="line">
            <a:avLst/>
          </a:prstGeom>
          <a:noFill/>
          <a:ln w="1143000">
            <a:solidFill>
              <a:srgbClr val="141A45"/>
            </a:solidFill>
            <a:prstDash val="solid"/>
          </a:ln>
        </p:spPr>
      </p:sp>
      <p:sp>
        <p:nvSpPr>
          <p:cNvPr id="5" name="Shape 3"/>
          <p:cNvSpPr/>
          <p:nvPr/>
        </p:nvSpPr>
        <p:spPr>
          <a:xfrm>
            <a:off x="9966960" y="4480560"/>
            <a:ext cx="2926080" cy="2926080"/>
          </a:xfrm>
          <a:prstGeom prst="ellipse">
            <a:avLst/>
          </a:prstGeom>
          <a:solidFill>
            <a:srgbClr val="24326E"/>
          </a:solidFill>
          <a:ln/>
        </p:spPr>
      </p:sp>
      <p:sp>
        <p:nvSpPr>
          <p:cNvPr id="6" name="Shape 4"/>
          <p:cNvSpPr/>
          <p:nvPr/>
        </p:nvSpPr>
        <p:spPr>
          <a:xfrm>
            <a:off x="10607040" y="5120640"/>
            <a:ext cx="1737360" cy="1737360"/>
          </a:xfrm>
          <a:prstGeom prst="ellipse">
            <a:avLst/>
          </a:prstGeom>
          <a:solidFill>
            <a:srgbClr val="00C875">
              <a:alpha val="22000"/>
            </a:srgbClr>
          </a:solidFill>
          <a:ln/>
        </p:spPr>
      </p:sp>
      <p:sp>
        <p:nvSpPr>
          <p:cNvPr id="7" name="Shape 5"/>
          <p:cNvSpPr/>
          <p:nvPr/>
        </p:nvSpPr>
        <p:spPr>
          <a:xfrm>
            <a:off x="640080" y="685800"/>
            <a:ext cx="4160520" cy="384048"/>
          </a:xfrm>
          <a:prstGeom prst="roundRect">
            <a:avLst>
              <a:gd name="adj" fmla="val 50000"/>
            </a:avLst>
          </a:prstGeom>
          <a:solidFill>
            <a:srgbClr val="00C875"/>
          </a:solidFill>
          <a:ln/>
        </p:spPr>
      </p:sp>
      <p:sp>
        <p:nvSpPr>
          <p:cNvPr id="8" name="Text 6"/>
          <p:cNvSpPr txBox="1"/>
          <p:nvPr/>
        </p:nvSpPr>
        <p:spPr>
          <a:xfrm>
            <a:off x="640080" y="685800"/>
            <a:ext cx="4160520" cy="384048"/>
          </a:xfrm>
          <a:prstGeom prst="rect">
            <a:avLst/>
          </a:prstGeom>
          <a:noFill/>
          <a:ln/>
        </p:spPr>
        <p:txBody>
          <a:bodyPr wrap="square" lIns="0" tIns="0" rIns="0" bIns="0" rtlCol="0" anchor="ctr"/>
          <a:lstStyle/>
          <a:p>
            <a:pPr algn="ctr" indent="0" marL="0">
              <a:buNone/>
            </a:pPr>
            <a:r>
              <a:rPr lang="en-US" sz="1150" b="1" dirty="0">
                <a:solidFill>
                  <a:srgbClr val="141A45"/>
                </a:solidFill>
                <a:latin typeface="Calibri" pitchFamily="34" charset="0"/>
                <a:ea typeface="Calibri" pitchFamily="34" charset="-122"/>
                <a:cs typeface="Calibri" pitchFamily="34" charset="-120"/>
              </a:rPr>
              <a:t>TRACK 1 · TRANSPORTATION &amp; ACCESS</a:t>
            </a:r>
            <a:endParaRPr lang="en-US" sz="1150" dirty="0"/>
          </a:p>
        </p:txBody>
      </p:sp>
      <p:sp>
        <p:nvSpPr>
          <p:cNvPr id="9" name="Text 7"/>
          <p:cNvSpPr txBox="1"/>
          <p:nvPr/>
        </p:nvSpPr>
        <p:spPr>
          <a:xfrm>
            <a:off x="640080" y="1417320"/>
            <a:ext cx="8778240" cy="2651760"/>
          </a:xfrm>
          <a:prstGeom prst="rect">
            <a:avLst/>
          </a:prstGeom>
          <a:noFill/>
          <a:ln/>
        </p:spPr>
        <p:txBody>
          <a:bodyPr wrap="square" lIns="0" tIns="0" rIns="0" bIns="0" rtlCol="0" anchor="ctr"/>
          <a:lstStyle/>
          <a:p>
            <a:pPr indent="0" marL="0">
              <a:lnSpc>
                <a:spcPct val="104000"/>
              </a:lnSpc>
              <a:buNone/>
            </a:pPr>
            <a:r>
              <a:rPr lang="en-US" sz="4200" b="1" dirty="0">
                <a:solidFill>
                  <a:srgbClr val="FFFFFF"/>
                </a:solidFill>
                <a:latin typeface="Cambria" pitchFamily="34" charset="0"/>
                <a:ea typeface="Cambria" pitchFamily="34" charset="-122"/>
                <a:cs typeface="Cambria" pitchFamily="34" charset="-120"/>
              </a:rPr>
              <a:t>World Cup 2026 Host-City</a:t>
            </a:r>
            <a:endParaRPr lang="en-US" sz="4200" dirty="0"/>
          </a:p>
          <a:p>
            <a:pPr indent="0" marL="0">
              <a:lnSpc>
                <a:spcPct val="104000"/>
              </a:lnSpc>
              <a:buNone/>
            </a:pPr>
            <a:r>
              <a:rPr lang="en-US" sz="4200" b="1" dirty="0">
                <a:solidFill>
                  <a:srgbClr val="FFFFFF"/>
                </a:solidFill>
                <a:latin typeface="Cambria" pitchFamily="34" charset="0"/>
                <a:ea typeface="Cambria" pitchFamily="34" charset="-122"/>
                <a:cs typeface="Cambria" pitchFamily="34" charset="-120"/>
              </a:rPr>
              <a:t>Mobility Investment &amp;</a:t>
            </a:r>
            <a:endParaRPr lang="en-US" sz="4200" dirty="0"/>
          </a:p>
          <a:p>
            <a:pPr indent="0" marL="0">
              <a:lnSpc>
                <a:spcPct val="104000"/>
              </a:lnSpc>
              <a:buNone/>
            </a:pPr>
            <a:r>
              <a:rPr lang="en-US" sz="4200" b="1" dirty="0">
                <a:solidFill>
                  <a:srgbClr val="FFFFFF"/>
                </a:solidFill>
                <a:latin typeface="Cambria" pitchFamily="34" charset="0"/>
                <a:ea typeface="Cambria" pitchFamily="34" charset="-122"/>
                <a:cs typeface="Cambria" pitchFamily="34" charset="-120"/>
              </a:rPr>
              <a:t>Legacy Optimizer</a:t>
            </a:r>
            <a:endParaRPr lang="en-US" sz="4200" dirty="0"/>
          </a:p>
        </p:txBody>
      </p:sp>
      <p:sp>
        <p:nvSpPr>
          <p:cNvPr id="10" name="Text 8"/>
          <p:cNvSpPr txBox="1"/>
          <p:nvPr/>
        </p:nvSpPr>
        <p:spPr>
          <a:xfrm>
            <a:off x="640080" y="4160520"/>
            <a:ext cx="7772400" cy="868680"/>
          </a:xfrm>
          <a:prstGeom prst="rect">
            <a:avLst/>
          </a:prstGeom>
          <a:noFill/>
          <a:ln/>
        </p:spPr>
        <p:txBody>
          <a:bodyPr wrap="square" lIns="0" tIns="0" rIns="0" bIns="0" rtlCol="0" anchor="ctr"/>
          <a:lstStyle/>
          <a:p>
            <a:pPr indent="0" marL="0">
              <a:lnSpc>
                <a:spcPct val="115000"/>
              </a:lnSpc>
              <a:buNone/>
            </a:pPr>
            <a:r>
              <a:rPr lang="en-US" sz="1500" dirty="0">
                <a:solidFill>
                  <a:srgbClr val="CADCFC"/>
                </a:solidFill>
                <a:latin typeface="Calibri" pitchFamily="34" charset="0"/>
                <a:ea typeface="Calibri" pitchFamily="34" charset="-122"/>
                <a:cs typeface="Calibri" pitchFamily="34" charset="-120"/>
              </a:rPr>
              <a:t>Turning a fixed transportation budget into an evidence-linked portfolio of temporary and permanent investments — and a legacy map that shows exactly why.</a:t>
            </a:r>
            <a:endParaRPr lang="en-US" sz="1500" dirty="0"/>
          </a:p>
        </p:txBody>
      </p:sp>
      <p:sp>
        <p:nvSpPr>
          <p:cNvPr id="11" name="Shape 9"/>
          <p:cNvSpPr/>
          <p:nvPr/>
        </p:nvSpPr>
        <p:spPr>
          <a:xfrm>
            <a:off x="640080" y="5257800"/>
            <a:ext cx="7680960" cy="0"/>
          </a:xfrm>
          <a:prstGeom prst="line">
            <a:avLst/>
          </a:prstGeom>
          <a:noFill/>
          <a:ln w="12700">
            <a:solidFill>
              <a:srgbClr val="3A4585"/>
            </a:solidFill>
            <a:prstDash val="solid"/>
          </a:ln>
        </p:spPr>
      </p:sp>
      <p:sp>
        <p:nvSpPr>
          <p:cNvPr id="12" name="Text 10"/>
          <p:cNvSpPr txBox="1"/>
          <p:nvPr/>
        </p:nvSpPr>
        <p:spPr>
          <a:xfrm>
            <a:off x="640080" y="5440680"/>
            <a:ext cx="7315200" cy="320040"/>
          </a:xfrm>
          <a:prstGeom prst="rect">
            <a:avLst/>
          </a:prstGeom>
          <a:noFill/>
          <a:ln/>
        </p:spPr>
        <p:txBody>
          <a:bodyPr wrap="square" lIns="0" tIns="0" rIns="0" bIns="0" rtlCol="0" anchor="ctr"/>
          <a:lstStyle/>
          <a:p>
            <a:pPr indent="0" marL="0">
              <a:buNone/>
            </a:pPr>
            <a:r>
              <a:rPr lang="en-US" sz="1250" b="1" dirty="0">
                <a:solidFill>
                  <a:srgbClr val="00C875"/>
                </a:solidFill>
                <a:latin typeface="Calibri" pitchFamily="34" charset="0"/>
                <a:ea typeface="Calibri" pitchFamily="34" charset="-122"/>
                <a:cs typeface="Calibri" pitchFamily="34" charset="-120"/>
              </a:rPr>
              <a:t>Case study: New York / New Jersey · MetLife Stadium · The Meadowlands</a:t>
            </a:r>
            <a:endParaRPr lang="en-US" sz="1250" dirty="0"/>
          </a:p>
        </p:txBody>
      </p:sp>
      <p:sp>
        <p:nvSpPr>
          <p:cNvPr id="13" name="Text 11"/>
          <p:cNvSpPr txBox="1"/>
          <p:nvPr/>
        </p:nvSpPr>
        <p:spPr>
          <a:xfrm>
            <a:off x="640080" y="5806440"/>
            <a:ext cx="8229600" cy="320040"/>
          </a:xfrm>
          <a:prstGeom prst="rect">
            <a:avLst/>
          </a:prstGeom>
          <a:noFill/>
          <a:ln/>
        </p:spPr>
        <p:txBody>
          <a:bodyPr wrap="square" lIns="0" tIns="0" rIns="0" bIns="0" rtlCol="0" anchor="ctr"/>
          <a:lstStyle/>
          <a:p>
            <a:pPr indent="0" marL="0">
              <a:buNone/>
            </a:pPr>
            <a:r>
              <a:rPr lang="en-US" sz="1150" dirty="0">
                <a:solidFill>
                  <a:srgbClr val="8C9BC2"/>
                </a:solidFill>
                <a:latin typeface="Calibri" pitchFamily="34" charset="0"/>
                <a:ea typeface="Calibri" pitchFamily="34" charset="-122"/>
                <a:cs typeface="Calibri" pitchFamily="34" charset="-120"/>
              </a:rPr>
              <a:t>Rice University Urban Sustainability Hackathon · World Cup Cities Hack   ·   [Your Team Name]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749808"/>
            <a:ext cx="10911535" cy="114300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World Cup match creates a transportation</a:t>
            </a:r>
            <a:endParaRPr lang="en-US" sz="2700" dirty="0"/>
          </a:p>
          <a:p>
            <a:pPr indent="0" marL="0">
              <a:buNone/>
            </a:pPr>
            <a:r>
              <a:rPr lang="en-US" sz="2700" b="1" dirty="0">
                <a:solidFill>
                  <a:srgbClr val="1E2761"/>
                </a:solidFill>
                <a:latin typeface="Cambria" pitchFamily="34" charset="0"/>
                <a:ea typeface="Cambria" pitchFamily="34" charset="-122"/>
                <a:cs typeface="Cambria" pitchFamily="34" charset="-120"/>
              </a:rPr>
              <a:t>spike host cities only get to plan for once</a:t>
            </a:r>
            <a:endParaRPr lang="en-US" sz="2700" dirty="0"/>
          </a:p>
        </p:txBody>
      </p:sp>
      <p:sp>
        <p:nvSpPr>
          <p:cNvPr id="4" name="Text 2"/>
          <p:cNvSpPr txBox="1"/>
          <p:nvPr/>
        </p:nvSpPr>
        <p:spPr>
          <a:xfrm>
            <a:off x="640080" y="2148840"/>
            <a:ext cx="5394960" cy="2194560"/>
          </a:xfrm>
          <a:prstGeom prst="rect">
            <a:avLst/>
          </a:prstGeom>
          <a:noFill/>
          <a:ln/>
        </p:spPr>
        <p:txBody>
          <a:bodyPr wrap="square" lIns="0" tIns="0" rIns="0" bIns="0" rtlCol="0" anchor="ctr"/>
          <a:lstStyle/>
          <a:p>
            <a:pPr indent="0" marL="0">
              <a:lnSpc>
                <a:spcPct val="125000"/>
              </a:lnSpc>
              <a:buNone/>
            </a:pPr>
            <a:r>
              <a:rPr lang="en-US" sz="1450" dirty="0">
                <a:solidFill>
                  <a:srgbClr val="17203D"/>
                </a:solidFill>
                <a:latin typeface="Calibri" pitchFamily="34" charset="0"/>
                <a:ea typeface="Calibri" pitchFamily="34" charset="-122"/>
                <a:cs typeface="Calibri" pitchFamily="34" charset="-120"/>
              </a:rPr>
              <a:t>For six hours around a single match, a host region moves more people through a fixed set of stations, roads, and pedestrian corridors than almost any other day of the year. Every dollar spent preparing for that spike is a choice: build something temporary that disappears afterward, or something permanent the city keeps.</a:t>
            </a:r>
            <a:endParaRPr lang="en-US" sz="1450" dirty="0"/>
          </a:p>
        </p:txBody>
      </p:sp>
      <p:sp>
        <p:nvSpPr>
          <p:cNvPr id="5" name="Text 3"/>
          <p:cNvSpPr txBox="1"/>
          <p:nvPr/>
        </p:nvSpPr>
        <p:spPr>
          <a:xfrm>
            <a:off x="640080" y="4434840"/>
            <a:ext cx="5394960" cy="1188720"/>
          </a:xfrm>
          <a:prstGeom prst="rect">
            <a:avLst/>
          </a:prstGeom>
          <a:noFill/>
          <a:ln/>
        </p:spPr>
        <p:txBody>
          <a:bodyPr wrap="square" lIns="0" tIns="0" rIns="0" bIns="0" rtlCol="0" anchor="ctr"/>
          <a:lstStyle/>
          <a:p>
            <a:pPr indent="0" marL="0">
              <a:lnSpc>
                <a:spcPct val="125000"/>
              </a:lnSpc>
              <a:buNone/>
            </a:pPr>
            <a:r>
              <a:rPr lang="en-US" sz="1450" b="1" dirty="0">
                <a:solidFill>
                  <a:srgbClr val="1E2761"/>
                </a:solidFill>
                <a:latin typeface="Calibri" pitchFamily="34" charset="0"/>
                <a:ea typeface="Calibri" pitchFamily="34" charset="-122"/>
                <a:cs typeface="Calibri" pitchFamily="34" charset="-120"/>
              </a:rPr>
              <a:t>That decision is usually made on instinct and political pressure — not on a documented, checkable chain of evidence tying the number of riders to the dollars spent to the infrastructure it justifies.</a:t>
            </a:r>
            <a:endParaRPr lang="en-US" sz="1450" dirty="0"/>
          </a:p>
        </p:txBody>
      </p:sp>
      <p:sp>
        <p:nvSpPr>
          <p:cNvPr id="6" name="Shape 4"/>
          <p:cNvSpPr/>
          <p:nvPr/>
        </p:nvSpPr>
        <p:spPr>
          <a:xfrm>
            <a:off x="6446520" y="2148840"/>
            <a:ext cx="5105095" cy="3977640"/>
          </a:xfrm>
          <a:prstGeom prst="roundRect">
            <a:avLst>
              <a:gd name="adj" fmla="val 1839"/>
            </a:avLst>
          </a:prstGeom>
          <a:solidFill>
            <a:srgbClr val="1E2761"/>
          </a:solidFill>
          <a:ln/>
        </p:spPr>
      </p:sp>
      <p:sp>
        <p:nvSpPr>
          <p:cNvPr id="7" name="Text 5"/>
          <p:cNvSpPr txBox="1"/>
          <p:nvPr/>
        </p:nvSpPr>
        <p:spPr>
          <a:xfrm>
            <a:off x="6766560" y="2377440"/>
            <a:ext cx="4465015" cy="320040"/>
          </a:xfrm>
          <a:prstGeom prst="rect">
            <a:avLst/>
          </a:prstGeom>
          <a:noFill/>
          <a:ln/>
        </p:spPr>
        <p:txBody>
          <a:bodyPr wrap="square" lIns="0" tIns="0" rIns="0" bIns="0" rtlCol="0" anchor="ctr"/>
          <a:lstStyle/>
          <a:p>
            <a:pPr indent="0" marL="0">
              <a:buNone/>
            </a:pPr>
            <a:r>
              <a:rPr lang="en-US" sz="1100" b="1" spc="150" kern="0" dirty="0">
                <a:solidFill>
                  <a:srgbClr val="00C875"/>
                </a:solidFill>
                <a:latin typeface="Calibri" pitchFamily="34" charset="0"/>
                <a:ea typeface="Calibri" pitchFamily="34" charset="-122"/>
                <a:cs typeface="Calibri" pitchFamily="34" charset="-120"/>
              </a:rPr>
              <a:t>REAL MATCH DAY — MATCH #104</a:t>
            </a:r>
            <a:endParaRPr lang="en-US" sz="1100" dirty="0"/>
          </a:p>
        </p:txBody>
      </p:sp>
      <p:sp>
        <p:nvSpPr>
          <p:cNvPr id="8" name="Text 6"/>
          <p:cNvSpPr txBox="1"/>
          <p:nvPr/>
        </p:nvSpPr>
        <p:spPr>
          <a:xfrm>
            <a:off x="6766560" y="2697480"/>
            <a:ext cx="4465015"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Spain vs. Argentina · MetLife Stadium</a:t>
            </a:r>
            <a:endParaRPr lang="en-US" sz="1250" dirty="0"/>
          </a:p>
        </p:txBody>
      </p:sp>
      <p:sp>
        <p:nvSpPr>
          <p:cNvPr id="9" name="Text 7"/>
          <p:cNvSpPr txBox="1"/>
          <p:nvPr/>
        </p:nvSpPr>
        <p:spPr>
          <a:xfrm>
            <a:off x="6766560" y="3200400"/>
            <a:ext cx="2095348"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80,663</a:t>
            </a:r>
            <a:endParaRPr lang="en-US" sz="2000" dirty="0"/>
          </a:p>
        </p:txBody>
      </p:sp>
      <p:sp>
        <p:nvSpPr>
          <p:cNvPr id="10" name="Text 8"/>
          <p:cNvSpPr txBox="1"/>
          <p:nvPr/>
        </p:nvSpPr>
        <p:spPr>
          <a:xfrm>
            <a:off x="6766560" y="3566160"/>
            <a:ext cx="2095348" cy="457200"/>
          </a:xfrm>
          <a:prstGeom prst="rect">
            <a:avLst/>
          </a:prstGeom>
          <a:noFill/>
          <a:ln/>
        </p:spPr>
        <p:txBody>
          <a:bodyPr wrap="square" lIns="0" tIns="0" rIns="0" bIns="0"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ticket holders</a:t>
            </a:r>
            <a:endParaRPr lang="en-US" sz="1000" dirty="0"/>
          </a:p>
        </p:txBody>
      </p:sp>
      <p:sp>
        <p:nvSpPr>
          <p:cNvPr id="11" name="Text 9"/>
          <p:cNvSpPr txBox="1"/>
          <p:nvPr/>
        </p:nvSpPr>
        <p:spPr>
          <a:xfrm>
            <a:off x="8999068" y="3200400"/>
            <a:ext cx="2095348"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21,024</a:t>
            </a:r>
            <a:endParaRPr lang="en-US" sz="2000" dirty="0"/>
          </a:p>
        </p:txBody>
      </p:sp>
      <p:sp>
        <p:nvSpPr>
          <p:cNvPr id="12" name="Text 10"/>
          <p:cNvSpPr txBox="1"/>
          <p:nvPr/>
        </p:nvSpPr>
        <p:spPr>
          <a:xfrm>
            <a:off x="8999068" y="3566160"/>
            <a:ext cx="2095348" cy="457200"/>
          </a:xfrm>
          <a:prstGeom prst="rect">
            <a:avLst/>
          </a:prstGeom>
          <a:noFill/>
          <a:ln/>
        </p:spPr>
        <p:txBody>
          <a:bodyPr wrap="square" lIns="0" tIns="0" rIns="0" bIns="0"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NJ Transit rail egress passengers</a:t>
            </a:r>
            <a:endParaRPr lang="en-US" sz="1000" dirty="0"/>
          </a:p>
        </p:txBody>
      </p:sp>
      <p:sp>
        <p:nvSpPr>
          <p:cNvPr id="13" name="Text 11"/>
          <p:cNvSpPr txBox="1"/>
          <p:nvPr/>
        </p:nvSpPr>
        <p:spPr>
          <a:xfrm>
            <a:off x="6766560" y="4096512"/>
            <a:ext cx="2095348"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16,200</a:t>
            </a:r>
            <a:endParaRPr lang="en-US" sz="2000" dirty="0"/>
          </a:p>
        </p:txBody>
      </p:sp>
      <p:sp>
        <p:nvSpPr>
          <p:cNvPr id="14" name="Text 12"/>
          <p:cNvSpPr txBox="1"/>
          <p:nvPr/>
        </p:nvSpPr>
        <p:spPr>
          <a:xfrm>
            <a:off x="6766560" y="4462272"/>
            <a:ext cx="2095348" cy="457200"/>
          </a:xfrm>
          <a:prstGeom prst="rect">
            <a:avLst/>
          </a:prstGeom>
          <a:noFill/>
          <a:ln/>
        </p:spPr>
        <p:txBody>
          <a:bodyPr wrap="square" lIns="0" tIns="0" rIns="0" bIns="0"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Uber trips</a:t>
            </a:r>
            <a:endParaRPr lang="en-US" sz="1000" dirty="0"/>
          </a:p>
        </p:txBody>
      </p:sp>
      <p:sp>
        <p:nvSpPr>
          <p:cNvPr id="15" name="Text 13"/>
          <p:cNvSpPr txBox="1"/>
          <p:nvPr/>
        </p:nvSpPr>
        <p:spPr>
          <a:xfrm>
            <a:off x="8999068" y="4096512"/>
            <a:ext cx="2095348"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11,168</a:t>
            </a:r>
            <a:endParaRPr lang="en-US" sz="2000" dirty="0"/>
          </a:p>
        </p:txBody>
      </p:sp>
      <p:sp>
        <p:nvSpPr>
          <p:cNvPr id="16" name="Text 14"/>
          <p:cNvSpPr txBox="1"/>
          <p:nvPr/>
        </p:nvSpPr>
        <p:spPr>
          <a:xfrm>
            <a:off x="8999068" y="4462272"/>
            <a:ext cx="2095348" cy="457200"/>
          </a:xfrm>
          <a:prstGeom prst="rect">
            <a:avLst/>
          </a:prstGeom>
          <a:noFill/>
          <a:ln/>
        </p:spPr>
        <p:txBody>
          <a:bodyPr wrap="square" lIns="0" tIns="0" rIns="0" bIns="0"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host shuttle riders</a:t>
            </a:r>
            <a:endParaRPr lang="en-US" sz="1000" dirty="0"/>
          </a:p>
        </p:txBody>
      </p:sp>
      <p:sp>
        <p:nvSpPr>
          <p:cNvPr id="17" name="Text 15"/>
          <p:cNvSpPr txBox="1"/>
          <p:nvPr/>
        </p:nvSpPr>
        <p:spPr>
          <a:xfrm>
            <a:off x="6766560" y="4992624"/>
            <a:ext cx="2095348"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65,000</a:t>
            </a:r>
            <a:endParaRPr lang="en-US" sz="2000" dirty="0"/>
          </a:p>
        </p:txBody>
      </p:sp>
      <p:sp>
        <p:nvSpPr>
          <p:cNvPr id="18" name="Text 16"/>
          <p:cNvSpPr txBox="1"/>
          <p:nvPr/>
        </p:nvSpPr>
        <p:spPr>
          <a:xfrm>
            <a:off x="6766560" y="5358384"/>
            <a:ext cx="2095348" cy="457200"/>
          </a:xfrm>
          <a:prstGeom prst="rect">
            <a:avLst/>
          </a:prstGeom>
          <a:noFill/>
          <a:ln/>
        </p:spPr>
        <p:txBody>
          <a:bodyPr wrap="square" lIns="0" tIns="0" rIns="0" bIns="0"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American Dream pedestrians</a:t>
            </a:r>
            <a:endParaRPr lang="en-US" sz="1000" dirty="0"/>
          </a:p>
        </p:txBody>
      </p:sp>
      <p:sp>
        <p:nvSpPr>
          <p:cNvPr id="19" name="Text 17"/>
          <p:cNvSpPr txBox="1"/>
          <p:nvPr/>
        </p:nvSpPr>
        <p:spPr>
          <a:xfrm>
            <a:off x="8999068" y="4992624"/>
            <a:ext cx="2095348"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60 min</a:t>
            </a:r>
            <a:endParaRPr lang="en-US" sz="2000" dirty="0"/>
          </a:p>
        </p:txBody>
      </p:sp>
      <p:sp>
        <p:nvSpPr>
          <p:cNvPr id="20" name="Text 18"/>
          <p:cNvSpPr txBox="1"/>
          <p:nvPr/>
        </p:nvSpPr>
        <p:spPr>
          <a:xfrm>
            <a:off x="8999068" y="5358384"/>
            <a:ext cx="2095348" cy="457200"/>
          </a:xfrm>
          <a:prstGeom prst="rect">
            <a:avLst/>
          </a:prstGeom>
          <a:noFill/>
          <a:ln/>
        </p:spPr>
        <p:txBody>
          <a:bodyPr wrap="square" lIns="0" tIns="0" rIns="0" bIns="0" rtlCol="0" anchor="ctr"/>
          <a:lstStyle/>
          <a:p>
            <a:pPr indent="0" marL="0">
              <a:lnSpc>
                <a:spcPct val="105000"/>
              </a:lnSpc>
              <a:buNone/>
            </a:pPr>
            <a:r>
              <a:rPr lang="en-US" sz="1000" dirty="0">
                <a:solidFill>
                  <a:srgbClr val="CADCFC"/>
                </a:solidFill>
                <a:latin typeface="Calibri" pitchFamily="34" charset="0"/>
                <a:ea typeface="Calibri" pitchFamily="34" charset="-122"/>
                <a:cs typeface="Calibri" pitchFamily="34" charset="-120"/>
              </a:rPr>
              <a:t>rail egress clearance time</a:t>
            </a:r>
            <a:endParaRPr lang="en-US" sz="1000" dirty="0"/>
          </a:p>
        </p:txBody>
      </p:sp>
      <p:sp>
        <p:nvSpPr>
          <p:cNvPr id="21" name="Text 19"/>
          <p:cNvSpPr txBox="1"/>
          <p:nvPr/>
        </p:nvSpPr>
        <p:spPr>
          <a:xfrm>
            <a:off x="6766560" y="5806440"/>
            <a:ext cx="4465015" cy="274320"/>
          </a:xfrm>
          <a:prstGeom prst="rect">
            <a:avLst/>
          </a:prstGeom>
          <a:noFill/>
          <a:ln/>
        </p:spPr>
        <p:txBody>
          <a:bodyPr wrap="square" lIns="0" tIns="0" rIns="0" bIns="0" rtlCol="0" anchor="ctr"/>
          <a:lstStyle/>
          <a:p>
            <a:pPr indent="0" marL="0">
              <a:buNone/>
            </a:pPr>
            <a:r>
              <a:rPr lang="en-US" sz="950" i="1" dirty="0">
                <a:solidFill>
                  <a:srgbClr val="8C9BC2"/>
                </a:solidFill>
                <a:latin typeface="Calibri" pitchFamily="34" charset="0"/>
                <a:ea typeface="Calibri" pitchFamily="34" charset="-122"/>
                <a:cs typeface="Calibri" pitchFamily="34" charset="-120"/>
              </a:rPr>
              <a:t>Source: NJ Transit After Action Report — evidenceClass: observed_final</a:t>
            </a:r>
            <a:endParaRPr lang="en-US" sz="950" dirty="0"/>
          </a:p>
        </p:txBody>
      </p:sp>
      <p:sp>
        <p:nvSpPr>
          <p:cNvPr id="22" name="Text 20"/>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23" name="Text 21"/>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THE GAP</a:t>
            </a:r>
            <a:endParaRPr lang="en-US" sz="1200" dirty="0"/>
          </a:p>
        </p:txBody>
      </p:sp>
      <p:sp>
        <p:nvSpPr>
          <p:cNvPr id="3" name="Text 1"/>
          <p:cNvSpPr txBox="1"/>
          <p:nvPr/>
        </p:nvSpPr>
        <p:spPr>
          <a:xfrm>
            <a:off x="640080" y="749808"/>
            <a:ext cx="10911535" cy="114300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Planning tools solve one piece of this.</a:t>
            </a:r>
            <a:endParaRPr lang="en-US" sz="2700" dirty="0"/>
          </a:p>
          <a:p>
            <a:pPr indent="0" marL="0">
              <a:buNone/>
            </a:pPr>
            <a:r>
              <a:rPr lang="en-US" sz="2700" b="1" dirty="0">
                <a:solidFill>
                  <a:srgbClr val="1E2761"/>
                </a:solidFill>
                <a:latin typeface="Cambria" pitchFamily="34" charset="0"/>
                <a:ea typeface="Cambria" pitchFamily="34" charset="-122"/>
                <a:cs typeface="Cambria" pitchFamily="34" charset="-120"/>
              </a:rPr>
              <a:t>None solve all three at once.</a:t>
            </a:r>
            <a:endParaRPr lang="en-US" sz="2700" dirty="0"/>
          </a:p>
        </p:txBody>
      </p:sp>
      <p:sp>
        <p:nvSpPr>
          <p:cNvPr id="4" name="Shape 2"/>
          <p:cNvSpPr/>
          <p:nvPr/>
        </p:nvSpPr>
        <p:spPr>
          <a:xfrm>
            <a:off x="640080" y="2286000"/>
            <a:ext cx="3454298" cy="3017520"/>
          </a:xfrm>
          <a:prstGeom prst="roundRect">
            <a:avLst>
              <a:gd name="adj" fmla="val 2424"/>
            </a:avLst>
          </a:prstGeom>
          <a:solidFill>
            <a:srgbClr val="EEF3FD"/>
          </a:solidFill>
          <a:ln/>
        </p:spPr>
      </p:sp>
      <p:sp>
        <p:nvSpPr>
          <p:cNvPr id="5" name="Shape 3"/>
          <p:cNvSpPr/>
          <p:nvPr/>
        </p:nvSpPr>
        <p:spPr>
          <a:xfrm>
            <a:off x="914400" y="2578608"/>
            <a:ext cx="2905658" cy="457200"/>
          </a:xfrm>
          <a:prstGeom prst="roundRect">
            <a:avLst>
              <a:gd name="adj" fmla="val 50000"/>
            </a:avLst>
          </a:prstGeom>
          <a:solidFill>
            <a:srgbClr val="D6415B"/>
          </a:solidFill>
          <a:ln/>
        </p:spPr>
      </p:sp>
      <p:sp>
        <p:nvSpPr>
          <p:cNvPr id="6" name="Text 4"/>
          <p:cNvSpPr txBox="1"/>
          <p:nvPr/>
        </p:nvSpPr>
        <p:spPr>
          <a:xfrm>
            <a:off x="914400" y="2578608"/>
            <a:ext cx="2905658"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 OPTIMIZATION</a:t>
            </a:r>
            <a:endParaRPr lang="en-US" sz="1050" dirty="0"/>
          </a:p>
        </p:txBody>
      </p:sp>
      <p:sp>
        <p:nvSpPr>
          <p:cNvPr id="7" name="Text 5"/>
          <p:cNvSpPr txBox="1"/>
          <p:nvPr/>
        </p:nvSpPr>
        <p:spPr>
          <a:xfrm>
            <a:off x="914400" y="3246120"/>
            <a:ext cx="2905658" cy="4114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Spreadsheets</a:t>
            </a:r>
            <a:endParaRPr lang="en-US" sz="1800" dirty="0"/>
          </a:p>
        </p:txBody>
      </p:sp>
      <p:sp>
        <p:nvSpPr>
          <p:cNvPr id="8" name="Text 6"/>
          <p:cNvSpPr txBox="1"/>
          <p:nvPr/>
        </p:nvSpPr>
        <p:spPr>
          <a:xfrm>
            <a:off x="914400" y="3703320"/>
            <a:ext cx="2905658" cy="1463040"/>
          </a:xfrm>
          <a:prstGeom prst="rect">
            <a:avLst/>
          </a:prstGeom>
          <a:noFill/>
          <a:ln/>
        </p:spPr>
        <p:txBody>
          <a:bodyPr wrap="square" lIns="0" tIns="0" rIns="0" bIns="0" rtlCol="0" anchor="ctr"/>
          <a:lstStyle/>
          <a:p>
            <a:pPr indent="0" marL="0">
              <a:lnSpc>
                <a:spcPct val="120000"/>
              </a:lnSpc>
              <a:buNone/>
            </a:pPr>
            <a:r>
              <a:rPr lang="en-US" sz="1200" dirty="0">
                <a:solidFill>
                  <a:srgbClr val="17203D"/>
                </a:solidFill>
                <a:latin typeface="Calibri" pitchFamily="34" charset="0"/>
                <a:ea typeface="Calibri" pitchFamily="34" charset="-122"/>
                <a:cs typeface="Calibri" pitchFamily="34" charset="-120"/>
              </a:rPr>
              <a:t>Track budgets and totals, but can't tell you which combination of projects is actually optimal under a real constraint set.</a:t>
            </a:r>
            <a:endParaRPr lang="en-US" sz="1200" dirty="0"/>
          </a:p>
        </p:txBody>
      </p:sp>
      <p:sp>
        <p:nvSpPr>
          <p:cNvPr id="9" name="Shape 7"/>
          <p:cNvSpPr/>
          <p:nvPr/>
        </p:nvSpPr>
        <p:spPr>
          <a:xfrm>
            <a:off x="4368698" y="2286000"/>
            <a:ext cx="3454298" cy="3017520"/>
          </a:xfrm>
          <a:prstGeom prst="roundRect">
            <a:avLst>
              <a:gd name="adj" fmla="val 2424"/>
            </a:avLst>
          </a:prstGeom>
          <a:solidFill>
            <a:srgbClr val="EEF3FD"/>
          </a:solidFill>
          <a:ln/>
        </p:spPr>
      </p:sp>
      <p:sp>
        <p:nvSpPr>
          <p:cNvPr id="10" name="Shape 8"/>
          <p:cNvSpPr/>
          <p:nvPr/>
        </p:nvSpPr>
        <p:spPr>
          <a:xfrm>
            <a:off x="4643018" y="2578608"/>
            <a:ext cx="2905658" cy="457200"/>
          </a:xfrm>
          <a:prstGeom prst="roundRect">
            <a:avLst>
              <a:gd name="adj" fmla="val 50000"/>
            </a:avLst>
          </a:prstGeom>
          <a:solidFill>
            <a:srgbClr val="D6415B"/>
          </a:solidFill>
          <a:ln/>
        </p:spPr>
      </p:sp>
      <p:sp>
        <p:nvSpPr>
          <p:cNvPr id="11" name="Text 9"/>
          <p:cNvSpPr txBox="1"/>
          <p:nvPr/>
        </p:nvSpPr>
        <p:spPr>
          <a:xfrm>
            <a:off x="4643018" y="2578608"/>
            <a:ext cx="2905658"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 EVIDENCE TRAIL</a:t>
            </a:r>
            <a:endParaRPr lang="en-US" sz="1050" dirty="0"/>
          </a:p>
        </p:txBody>
      </p:sp>
      <p:sp>
        <p:nvSpPr>
          <p:cNvPr id="12" name="Text 10"/>
          <p:cNvSpPr txBox="1"/>
          <p:nvPr/>
        </p:nvSpPr>
        <p:spPr>
          <a:xfrm>
            <a:off x="4643018" y="3246120"/>
            <a:ext cx="2905658" cy="4114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Renderings</a:t>
            </a:r>
            <a:endParaRPr lang="en-US" sz="1800" dirty="0"/>
          </a:p>
        </p:txBody>
      </p:sp>
      <p:sp>
        <p:nvSpPr>
          <p:cNvPr id="13" name="Text 11"/>
          <p:cNvSpPr txBox="1"/>
          <p:nvPr/>
        </p:nvSpPr>
        <p:spPr>
          <a:xfrm>
            <a:off x="4643018" y="3703320"/>
            <a:ext cx="2905658" cy="1463040"/>
          </a:xfrm>
          <a:prstGeom prst="rect">
            <a:avLst/>
          </a:prstGeom>
          <a:noFill/>
          <a:ln/>
        </p:spPr>
        <p:txBody>
          <a:bodyPr wrap="square" lIns="0" tIns="0" rIns="0" bIns="0" rtlCol="0" anchor="ctr"/>
          <a:lstStyle/>
          <a:p>
            <a:pPr indent="0" marL="0">
              <a:lnSpc>
                <a:spcPct val="120000"/>
              </a:lnSpc>
              <a:buNone/>
            </a:pPr>
            <a:r>
              <a:rPr lang="en-US" sz="1200" dirty="0">
                <a:solidFill>
                  <a:srgbClr val="17203D"/>
                </a:solidFill>
                <a:latin typeface="Calibri" pitchFamily="34" charset="0"/>
                <a:ea typeface="Calibri" pitchFamily="34" charset="-122"/>
                <a:cs typeface="Calibri" pitchFamily="34" charset="-120"/>
              </a:rPr>
              <a:t>Show what a project could look like, but carry no link back to the ridership or funding evidence that justified it.</a:t>
            </a:r>
            <a:endParaRPr lang="en-US" sz="1200" dirty="0"/>
          </a:p>
        </p:txBody>
      </p:sp>
      <p:sp>
        <p:nvSpPr>
          <p:cNvPr id="14" name="Shape 12"/>
          <p:cNvSpPr/>
          <p:nvPr/>
        </p:nvSpPr>
        <p:spPr>
          <a:xfrm>
            <a:off x="8097317" y="2286000"/>
            <a:ext cx="3454298" cy="3017520"/>
          </a:xfrm>
          <a:prstGeom prst="roundRect">
            <a:avLst>
              <a:gd name="adj" fmla="val 2424"/>
            </a:avLst>
          </a:prstGeom>
          <a:solidFill>
            <a:srgbClr val="EEF3FD"/>
          </a:solidFill>
          <a:ln/>
        </p:spPr>
      </p:sp>
      <p:sp>
        <p:nvSpPr>
          <p:cNvPr id="15" name="Shape 13"/>
          <p:cNvSpPr/>
          <p:nvPr/>
        </p:nvSpPr>
        <p:spPr>
          <a:xfrm>
            <a:off x="8371637" y="2578608"/>
            <a:ext cx="2905658" cy="457200"/>
          </a:xfrm>
          <a:prstGeom prst="roundRect">
            <a:avLst>
              <a:gd name="adj" fmla="val 50000"/>
            </a:avLst>
          </a:prstGeom>
          <a:solidFill>
            <a:srgbClr val="D6415B"/>
          </a:solidFill>
          <a:ln/>
        </p:spPr>
      </p:sp>
      <p:sp>
        <p:nvSpPr>
          <p:cNvPr id="16" name="Text 14"/>
          <p:cNvSpPr txBox="1"/>
          <p:nvPr/>
        </p:nvSpPr>
        <p:spPr>
          <a:xfrm>
            <a:off x="8371637" y="2578608"/>
            <a:ext cx="2905658"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 LEGACY LOGIC</a:t>
            </a:r>
            <a:endParaRPr lang="en-US" sz="1050" dirty="0"/>
          </a:p>
        </p:txBody>
      </p:sp>
      <p:sp>
        <p:nvSpPr>
          <p:cNvPr id="17" name="Text 15"/>
          <p:cNvSpPr txBox="1"/>
          <p:nvPr/>
        </p:nvSpPr>
        <p:spPr>
          <a:xfrm>
            <a:off x="8371637" y="3246120"/>
            <a:ext cx="2905658" cy="4114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Dashboards</a:t>
            </a:r>
            <a:endParaRPr lang="en-US" sz="1800" dirty="0"/>
          </a:p>
        </p:txBody>
      </p:sp>
      <p:sp>
        <p:nvSpPr>
          <p:cNvPr id="18" name="Text 16"/>
          <p:cNvSpPr txBox="1"/>
          <p:nvPr/>
        </p:nvSpPr>
        <p:spPr>
          <a:xfrm>
            <a:off x="8371637" y="3703320"/>
            <a:ext cx="2905658" cy="1463040"/>
          </a:xfrm>
          <a:prstGeom prst="rect">
            <a:avLst/>
          </a:prstGeom>
          <a:noFill/>
          <a:ln/>
        </p:spPr>
        <p:txBody>
          <a:bodyPr wrap="square" lIns="0" tIns="0" rIns="0" bIns="0" rtlCol="0" anchor="ctr"/>
          <a:lstStyle/>
          <a:p>
            <a:pPr indent="0" marL="0">
              <a:lnSpc>
                <a:spcPct val="120000"/>
              </a:lnSpc>
              <a:buNone/>
            </a:pPr>
            <a:r>
              <a:rPr lang="en-US" sz="1200" dirty="0">
                <a:solidFill>
                  <a:srgbClr val="17203D"/>
                </a:solidFill>
                <a:latin typeface="Calibri" pitchFamily="34" charset="0"/>
                <a:ea typeface="Calibri" pitchFamily="34" charset="-122"/>
                <a:cs typeface="Calibri" pitchFamily="34" charset="-120"/>
              </a:rPr>
              <a:t>Visualize what already happened, but don't help decide what to build next, or what to keep after the tournament leaves.</a:t>
            </a:r>
            <a:endParaRPr lang="en-US" sz="1200" dirty="0"/>
          </a:p>
        </p:txBody>
      </p:sp>
      <p:sp>
        <p:nvSpPr>
          <p:cNvPr id="19" name="Shape 17"/>
          <p:cNvSpPr/>
          <p:nvPr/>
        </p:nvSpPr>
        <p:spPr>
          <a:xfrm>
            <a:off x="640080" y="5532120"/>
            <a:ext cx="10911535" cy="685800"/>
          </a:xfrm>
          <a:prstGeom prst="roundRect">
            <a:avLst>
              <a:gd name="adj" fmla="val 10667"/>
            </a:avLst>
          </a:prstGeom>
          <a:solidFill>
            <a:srgbClr val="1E2761"/>
          </a:solidFill>
          <a:ln/>
        </p:spPr>
      </p:sp>
      <p:sp>
        <p:nvSpPr>
          <p:cNvPr id="20" name="Text 18"/>
          <p:cNvSpPr txBox="1"/>
          <p:nvPr/>
        </p:nvSpPr>
        <p:spPr>
          <a:xfrm>
            <a:off x="960120" y="5532120"/>
            <a:ext cx="10271455"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This project is built to close the gap between all three — in one live application.</a:t>
            </a:r>
            <a:endParaRPr lang="en-US" sz="1400" dirty="0"/>
          </a:p>
        </p:txBody>
      </p:sp>
      <p:sp>
        <p:nvSpPr>
          <p:cNvPr id="21" name="Text 19"/>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22" name="Text 20"/>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OUR APPROACH</a:t>
            </a:r>
            <a:endParaRPr lang="en-US" sz="12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Three systems, one evidence chain</a:t>
            </a:r>
            <a:endParaRPr lang="en-US" sz="3000" dirty="0"/>
          </a:p>
        </p:txBody>
      </p:sp>
      <p:sp>
        <p:nvSpPr>
          <p:cNvPr id="4" name="Text 2"/>
          <p:cNvSpPr txBox="1"/>
          <p:nvPr/>
        </p:nvSpPr>
        <p:spPr>
          <a:xfrm>
            <a:off x="640080" y="1508760"/>
            <a:ext cx="8686800" cy="54864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Every screen in the app is downstream of the same verified dataset — nothing is computed twice, and nothing is invented along the way.</a:t>
            </a:r>
            <a:endParaRPr lang="en-US" sz="1350" dirty="0"/>
          </a:p>
        </p:txBody>
      </p:sp>
      <p:sp>
        <p:nvSpPr>
          <p:cNvPr id="5" name="Shape 3"/>
          <p:cNvSpPr/>
          <p:nvPr/>
        </p:nvSpPr>
        <p:spPr>
          <a:xfrm>
            <a:off x="640080" y="2331720"/>
            <a:ext cx="3454298" cy="3566160"/>
          </a:xfrm>
          <a:prstGeom prst="roundRect">
            <a:avLst>
              <a:gd name="adj" fmla="val 2647"/>
            </a:avLst>
          </a:prstGeom>
          <a:solidFill>
            <a:srgbClr val="141A45"/>
          </a:solidFill>
          <a:ln/>
        </p:spPr>
      </p:sp>
      <p:sp>
        <p:nvSpPr>
          <p:cNvPr id="6" name="Shape 4"/>
          <p:cNvSpPr/>
          <p:nvPr/>
        </p:nvSpPr>
        <p:spPr>
          <a:xfrm>
            <a:off x="914400" y="2624328"/>
            <a:ext cx="502920" cy="502920"/>
          </a:xfrm>
          <a:prstGeom prst="ellipse">
            <a:avLst/>
          </a:prstGeom>
          <a:solidFill>
            <a:srgbClr val="00C875"/>
          </a:solidFill>
          <a:ln/>
        </p:spPr>
      </p:sp>
      <p:sp>
        <p:nvSpPr>
          <p:cNvPr id="7" name="Text 5"/>
          <p:cNvSpPr txBox="1"/>
          <p:nvPr/>
        </p:nvSpPr>
        <p:spPr>
          <a:xfrm>
            <a:off x="914400" y="2624328"/>
            <a:ext cx="502920" cy="502920"/>
          </a:xfrm>
          <a:prstGeom prst="rect">
            <a:avLst/>
          </a:prstGeom>
          <a:noFill/>
          <a:ln/>
        </p:spPr>
        <p:txBody>
          <a:bodyPr wrap="square" lIns="0" tIns="0" rIns="0" bIns="0" rtlCol="0" anchor="ctr"/>
          <a:lstStyle/>
          <a:p>
            <a:pPr algn="ctr" indent="0" marL="0">
              <a:buNone/>
            </a:pPr>
            <a:r>
              <a:rPr lang="en-US" sz="1870" b="1" dirty="0">
                <a:solidFill>
                  <a:srgbClr val="141A45"/>
                </a:solidFill>
                <a:latin typeface="Cambria" pitchFamily="34" charset="0"/>
                <a:ea typeface="Cambria" pitchFamily="34" charset="-122"/>
                <a:cs typeface="Cambria" pitchFamily="34" charset="-120"/>
              </a:rPr>
              <a:t>1</a:t>
            </a:r>
            <a:endParaRPr lang="en-US" sz="1870" dirty="0"/>
          </a:p>
        </p:txBody>
      </p:sp>
      <p:sp>
        <p:nvSpPr>
          <p:cNvPr id="8" name="Text 6"/>
          <p:cNvSpPr txBox="1"/>
          <p:nvPr/>
        </p:nvSpPr>
        <p:spPr>
          <a:xfrm>
            <a:off x="914400" y="3337560"/>
            <a:ext cx="2905658" cy="50292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Evidence Engine</a:t>
            </a:r>
            <a:endParaRPr lang="en-US" sz="1750" dirty="0"/>
          </a:p>
        </p:txBody>
      </p:sp>
      <p:sp>
        <p:nvSpPr>
          <p:cNvPr id="9" name="Text 7"/>
          <p:cNvSpPr txBox="1"/>
          <p:nvPr/>
        </p:nvSpPr>
        <p:spPr>
          <a:xfrm>
            <a:off x="914400" y="3867912"/>
            <a:ext cx="2905658" cy="1920240"/>
          </a:xfrm>
          <a:prstGeom prst="rect">
            <a:avLst/>
          </a:prstGeom>
          <a:noFill/>
          <a:ln/>
        </p:spPr>
        <p:txBody>
          <a:bodyPr wrap="square" lIns="0" tIns="0" rIns="0" bIns="0" rtlCol="0" anchor="ctr"/>
          <a:lstStyle/>
          <a:p>
            <a:pPr indent="0" marL="0">
              <a:lnSpc>
                <a:spcPct val="122000"/>
              </a:lnSpc>
              <a:buNone/>
            </a:pPr>
            <a:r>
              <a:rPr lang="en-US" sz="1150" dirty="0">
                <a:solidFill>
                  <a:srgbClr val="CADCFC"/>
                </a:solidFill>
                <a:latin typeface="Calibri" pitchFamily="34" charset="0"/>
                <a:ea typeface="Calibri" pitchFamily="34" charset="-122"/>
                <a:cs typeface="Calibri" pitchFamily="34" charset="-120"/>
              </a:rPr>
              <a:t>Real ridership, funding, and infrastructure data for all 11 World Cup 2026 host regions — every figure labeled official, observed, or a disclosed assumption. Never presented as fact unless it is one.</a:t>
            </a:r>
            <a:endParaRPr lang="en-US" sz="1150" dirty="0"/>
          </a:p>
        </p:txBody>
      </p:sp>
      <p:sp>
        <p:nvSpPr>
          <p:cNvPr id="10" name="Shape 8"/>
          <p:cNvSpPr/>
          <p:nvPr/>
        </p:nvSpPr>
        <p:spPr>
          <a:xfrm>
            <a:off x="4368698" y="2331720"/>
            <a:ext cx="3454298" cy="3566160"/>
          </a:xfrm>
          <a:prstGeom prst="roundRect">
            <a:avLst>
              <a:gd name="adj" fmla="val 2647"/>
            </a:avLst>
          </a:prstGeom>
          <a:solidFill>
            <a:srgbClr val="141A45"/>
          </a:solidFill>
          <a:ln/>
        </p:spPr>
      </p:sp>
      <p:sp>
        <p:nvSpPr>
          <p:cNvPr id="11" name="Shape 9"/>
          <p:cNvSpPr/>
          <p:nvPr/>
        </p:nvSpPr>
        <p:spPr>
          <a:xfrm>
            <a:off x="4643018" y="2624328"/>
            <a:ext cx="502920" cy="502920"/>
          </a:xfrm>
          <a:prstGeom prst="ellipse">
            <a:avLst/>
          </a:prstGeom>
          <a:solidFill>
            <a:srgbClr val="00C875"/>
          </a:solidFill>
          <a:ln/>
        </p:spPr>
      </p:sp>
      <p:sp>
        <p:nvSpPr>
          <p:cNvPr id="12" name="Text 10"/>
          <p:cNvSpPr txBox="1"/>
          <p:nvPr/>
        </p:nvSpPr>
        <p:spPr>
          <a:xfrm>
            <a:off x="4643018" y="2624328"/>
            <a:ext cx="502920" cy="502920"/>
          </a:xfrm>
          <a:prstGeom prst="rect">
            <a:avLst/>
          </a:prstGeom>
          <a:noFill/>
          <a:ln/>
        </p:spPr>
        <p:txBody>
          <a:bodyPr wrap="square" lIns="0" tIns="0" rIns="0" bIns="0" rtlCol="0" anchor="ctr"/>
          <a:lstStyle/>
          <a:p>
            <a:pPr algn="ctr" indent="0" marL="0">
              <a:buNone/>
            </a:pPr>
            <a:r>
              <a:rPr lang="en-US" sz="1870" b="1" dirty="0">
                <a:solidFill>
                  <a:srgbClr val="141A45"/>
                </a:solidFill>
                <a:latin typeface="Cambria" pitchFamily="34" charset="0"/>
                <a:ea typeface="Cambria" pitchFamily="34" charset="-122"/>
                <a:cs typeface="Cambria" pitchFamily="34" charset="-120"/>
              </a:rPr>
              <a:t>2</a:t>
            </a:r>
            <a:endParaRPr lang="en-US" sz="1870" dirty="0"/>
          </a:p>
        </p:txBody>
      </p:sp>
      <p:sp>
        <p:nvSpPr>
          <p:cNvPr id="13" name="Text 11"/>
          <p:cNvSpPr txBox="1"/>
          <p:nvPr/>
        </p:nvSpPr>
        <p:spPr>
          <a:xfrm>
            <a:off x="4643018" y="3337560"/>
            <a:ext cx="2905658" cy="50292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MILP Optimizer</a:t>
            </a:r>
            <a:endParaRPr lang="en-US" sz="1750" dirty="0"/>
          </a:p>
        </p:txBody>
      </p:sp>
      <p:sp>
        <p:nvSpPr>
          <p:cNvPr id="14" name="Text 12"/>
          <p:cNvSpPr txBox="1"/>
          <p:nvPr/>
        </p:nvSpPr>
        <p:spPr>
          <a:xfrm>
            <a:off x="4643018" y="3867912"/>
            <a:ext cx="2905658" cy="1920240"/>
          </a:xfrm>
          <a:prstGeom prst="rect">
            <a:avLst/>
          </a:prstGeom>
          <a:noFill/>
          <a:ln/>
        </p:spPr>
        <p:txBody>
          <a:bodyPr wrap="square" lIns="0" tIns="0" rIns="0" bIns="0" rtlCol="0" anchor="ctr"/>
          <a:lstStyle/>
          <a:p>
            <a:pPr indent="0" marL="0">
              <a:lnSpc>
                <a:spcPct val="122000"/>
              </a:lnSpc>
              <a:buNone/>
            </a:pPr>
            <a:r>
              <a:rPr lang="en-US" sz="1150" dirty="0">
                <a:solidFill>
                  <a:srgbClr val="CADCFC"/>
                </a:solidFill>
                <a:latin typeface="Calibri" pitchFamily="34" charset="0"/>
                <a:ea typeface="Calibri" pitchFamily="34" charset="-122"/>
                <a:cs typeface="Calibri" pitchFamily="34" charset="-120"/>
              </a:rPr>
              <a:t>A real mixed-integer program (scipy.optimize.milp) selects the portfolio of interventions that maximizes impact under the region's actual budget — recalculated from scratch on every request, never a canned answer.</a:t>
            </a:r>
            <a:endParaRPr lang="en-US" sz="1150" dirty="0"/>
          </a:p>
        </p:txBody>
      </p:sp>
      <p:sp>
        <p:nvSpPr>
          <p:cNvPr id="15" name="Shape 13"/>
          <p:cNvSpPr/>
          <p:nvPr/>
        </p:nvSpPr>
        <p:spPr>
          <a:xfrm>
            <a:off x="8097317" y="2331720"/>
            <a:ext cx="3454298" cy="3566160"/>
          </a:xfrm>
          <a:prstGeom prst="roundRect">
            <a:avLst>
              <a:gd name="adj" fmla="val 2647"/>
            </a:avLst>
          </a:prstGeom>
          <a:solidFill>
            <a:srgbClr val="141A45"/>
          </a:solidFill>
          <a:ln/>
        </p:spPr>
      </p:sp>
      <p:sp>
        <p:nvSpPr>
          <p:cNvPr id="16" name="Shape 14"/>
          <p:cNvSpPr/>
          <p:nvPr/>
        </p:nvSpPr>
        <p:spPr>
          <a:xfrm>
            <a:off x="8371637" y="2624328"/>
            <a:ext cx="502920" cy="502920"/>
          </a:xfrm>
          <a:prstGeom prst="ellipse">
            <a:avLst/>
          </a:prstGeom>
          <a:solidFill>
            <a:srgbClr val="00C875"/>
          </a:solidFill>
          <a:ln/>
        </p:spPr>
      </p:sp>
      <p:sp>
        <p:nvSpPr>
          <p:cNvPr id="17" name="Text 15"/>
          <p:cNvSpPr txBox="1"/>
          <p:nvPr/>
        </p:nvSpPr>
        <p:spPr>
          <a:xfrm>
            <a:off x="8371637" y="2624328"/>
            <a:ext cx="502920" cy="502920"/>
          </a:xfrm>
          <a:prstGeom prst="rect">
            <a:avLst/>
          </a:prstGeom>
          <a:noFill/>
          <a:ln/>
        </p:spPr>
        <p:txBody>
          <a:bodyPr wrap="square" lIns="0" tIns="0" rIns="0" bIns="0" rtlCol="0" anchor="ctr"/>
          <a:lstStyle/>
          <a:p>
            <a:pPr algn="ctr" indent="0" marL="0">
              <a:buNone/>
            </a:pPr>
            <a:r>
              <a:rPr lang="en-US" sz="1870" b="1" dirty="0">
                <a:solidFill>
                  <a:srgbClr val="141A45"/>
                </a:solidFill>
                <a:latin typeface="Cambria" pitchFamily="34" charset="0"/>
                <a:ea typeface="Cambria" pitchFamily="34" charset="-122"/>
                <a:cs typeface="Cambria" pitchFamily="34" charset="-120"/>
              </a:rPr>
              <a:t>3</a:t>
            </a:r>
            <a:endParaRPr lang="en-US" sz="1870" dirty="0"/>
          </a:p>
        </p:txBody>
      </p:sp>
      <p:sp>
        <p:nvSpPr>
          <p:cNvPr id="18" name="Text 16"/>
          <p:cNvSpPr txBox="1"/>
          <p:nvPr/>
        </p:nvSpPr>
        <p:spPr>
          <a:xfrm>
            <a:off x="8371637" y="3337560"/>
            <a:ext cx="2905658" cy="50292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Legacy Map</a:t>
            </a:r>
            <a:endParaRPr lang="en-US" sz="1750" dirty="0"/>
          </a:p>
        </p:txBody>
      </p:sp>
      <p:sp>
        <p:nvSpPr>
          <p:cNvPr id="19" name="Text 17"/>
          <p:cNvSpPr txBox="1"/>
          <p:nvPr/>
        </p:nvSpPr>
        <p:spPr>
          <a:xfrm>
            <a:off x="8371637" y="3867912"/>
            <a:ext cx="2905658" cy="1920240"/>
          </a:xfrm>
          <a:prstGeom prst="rect">
            <a:avLst/>
          </a:prstGeom>
          <a:noFill/>
          <a:ln/>
        </p:spPr>
        <p:txBody>
          <a:bodyPr wrap="square" lIns="0" tIns="0" rIns="0" bIns="0" rtlCol="0" anchor="ctr"/>
          <a:lstStyle/>
          <a:p>
            <a:pPr indent="0" marL="0">
              <a:lnSpc>
                <a:spcPct val="122000"/>
              </a:lnSpc>
              <a:buNone/>
            </a:pPr>
            <a:r>
              <a:rPr lang="en-US" sz="1150" dirty="0">
                <a:solidFill>
                  <a:srgbClr val="CADCFC"/>
                </a:solidFill>
                <a:latin typeface="Calibri" pitchFamily="34" charset="0"/>
                <a:ea typeface="Calibri" pitchFamily="34" charset="-122"/>
                <a:cs typeface="Calibri" pitchFamily="34" charset="-120"/>
              </a:rPr>
              <a:t>A MapLibre map that renders only what the optimizer actually selected, toggling between Baseline, Temporary Operations, Selected Legacy, and every candidate under consideration.</a:t>
            </a:r>
            <a:endParaRPr lang="en-US" sz="1150" dirty="0"/>
          </a:p>
        </p:txBody>
      </p:sp>
      <p:sp>
        <p:nvSpPr>
          <p:cNvPr id="20" name="Text 18"/>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DATA FOUNDATION</a:t>
            </a:r>
            <a:endParaRPr lang="en-US" sz="1200" dirty="0"/>
          </a:p>
        </p:txBody>
      </p:sp>
      <p:sp>
        <p:nvSpPr>
          <p:cNvPr id="3" name="Text 1"/>
          <p:cNvSpPr txBox="1"/>
          <p:nvPr/>
        </p:nvSpPr>
        <p:spPr>
          <a:xfrm>
            <a:off x="640080" y="749808"/>
            <a:ext cx="10911535"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Built on a fully validated, cent-accurate dataset</a:t>
            </a:r>
            <a:endParaRPr lang="en-US" sz="2700" dirty="0"/>
          </a:p>
        </p:txBody>
      </p:sp>
      <p:sp>
        <p:nvSpPr>
          <p:cNvPr id="4" name="Text 2"/>
          <p:cNvSpPr txBox="1"/>
          <p:nvPr/>
        </p:nvSpPr>
        <p:spPr>
          <a:xfrm>
            <a:off x="640080" y="1417320"/>
            <a:ext cx="10911535" cy="45720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Every figure below is checked programmatically at application startup — the app refuses to boot if the reconciliation doesn't hold exactly.</a:t>
            </a:r>
            <a:endParaRPr lang="en-US" sz="1300" dirty="0"/>
          </a:p>
        </p:txBody>
      </p:sp>
      <p:sp>
        <p:nvSpPr>
          <p:cNvPr id="5" name="Shape 3"/>
          <p:cNvSpPr/>
          <p:nvPr/>
        </p:nvSpPr>
        <p:spPr>
          <a:xfrm>
            <a:off x="640080" y="2103120"/>
            <a:ext cx="3362858" cy="1417320"/>
          </a:xfrm>
          <a:prstGeom prst="roundRect">
            <a:avLst>
              <a:gd name="adj" fmla="val 5161"/>
            </a:avLst>
          </a:prstGeom>
          <a:solidFill>
            <a:srgbClr val="EEF3FD"/>
          </a:solidFill>
          <a:ln/>
        </p:spPr>
      </p:sp>
      <p:sp>
        <p:nvSpPr>
          <p:cNvPr id="6" name="Text 4"/>
          <p:cNvSpPr txBox="1"/>
          <p:nvPr/>
        </p:nvSpPr>
        <p:spPr>
          <a:xfrm>
            <a:off x="804672" y="2231136"/>
            <a:ext cx="3033674" cy="779526"/>
          </a:xfrm>
          <a:prstGeom prst="rect">
            <a:avLst/>
          </a:prstGeom>
          <a:noFill/>
          <a:ln/>
        </p:spPr>
        <p:txBody>
          <a:bodyPr wrap="square" lIns="0" tIns="0" rIns="0" bIns="0" rtlCol="0" anchor="b"/>
          <a:lstStyle/>
          <a:p>
            <a:pPr indent="0" marL="0">
              <a:buNone/>
            </a:pPr>
            <a:r>
              <a:rPr lang="en-US" sz="3000" b="1" dirty="0">
                <a:solidFill>
                  <a:srgbClr val="1E2761"/>
                </a:solidFill>
                <a:latin typeface="Cambria" pitchFamily="34" charset="0"/>
                <a:ea typeface="Cambria" pitchFamily="34" charset="-122"/>
                <a:cs typeface="Cambria" pitchFamily="34" charset="-120"/>
              </a:rPr>
              <a:t>11</a:t>
            </a:r>
            <a:endParaRPr lang="en-US" sz="3000" dirty="0"/>
          </a:p>
        </p:txBody>
      </p:sp>
      <p:sp>
        <p:nvSpPr>
          <p:cNvPr id="7" name="Text 5"/>
          <p:cNvSpPr txBox="1"/>
          <p:nvPr/>
        </p:nvSpPr>
        <p:spPr>
          <a:xfrm>
            <a:off x="804672" y="2925166"/>
            <a:ext cx="3033674" cy="566928"/>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host regions modeled</a:t>
            </a:r>
            <a:endParaRPr lang="en-US" sz="1050" dirty="0"/>
          </a:p>
        </p:txBody>
      </p:sp>
      <p:sp>
        <p:nvSpPr>
          <p:cNvPr id="8" name="Shape 6"/>
          <p:cNvSpPr/>
          <p:nvPr/>
        </p:nvSpPr>
        <p:spPr>
          <a:xfrm>
            <a:off x="4414418" y="2103120"/>
            <a:ext cx="3362858" cy="1417320"/>
          </a:xfrm>
          <a:prstGeom prst="roundRect">
            <a:avLst>
              <a:gd name="adj" fmla="val 5161"/>
            </a:avLst>
          </a:prstGeom>
          <a:solidFill>
            <a:srgbClr val="EEF3FD"/>
          </a:solidFill>
          <a:ln/>
        </p:spPr>
      </p:sp>
      <p:sp>
        <p:nvSpPr>
          <p:cNvPr id="9" name="Text 7"/>
          <p:cNvSpPr txBox="1"/>
          <p:nvPr/>
        </p:nvSpPr>
        <p:spPr>
          <a:xfrm>
            <a:off x="4579010" y="2231136"/>
            <a:ext cx="3033674" cy="779526"/>
          </a:xfrm>
          <a:prstGeom prst="rect">
            <a:avLst/>
          </a:prstGeom>
          <a:noFill/>
          <a:ln/>
        </p:spPr>
        <p:txBody>
          <a:bodyPr wrap="square" lIns="0" tIns="0" rIns="0" bIns="0" rtlCol="0" anchor="b"/>
          <a:lstStyle/>
          <a:p>
            <a:pPr indent="0" marL="0">
              <a:buNone/>
            </a:pPr>
            <a:r>
              <a:rPr lang="en-US" sz="3000" b="1" dirty="0">
                <a:solidFill>
                  <a:srgbClr val="1E2761"/>
                </a:solidFill>
                <a:latin typeface="Cambria" pitchFamily="34" charset="0"/>
                <a:ea typeface="Cambria" pitchFamily="34" charset="-122"/>
                <a:cs typeface="Cambria" pitchFamily="34" charset="-120"/>
              </a:rPr>
              <a:t>$100.25M</a:t>
            </a:r>
            <a:endParaRPr lang="en-US" sz="3000" dirty="0"/>
          </a:p>
        </p:txBody>
      </p:sp>
      <p:sp>
        <p:nvSpPr>
          <p:cNvPr id="10" name="Text 8"/>
          <p:cNvSpPr txBox="1"/>
          <p:nvPr/>
        </p:nvSpPr>
        <p:spPr>
          <a:xfrm>
            <a:off x="4579010" y="2925166"/>
            <a:ext cx="3033674" cy="566928"/>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total funding reconciled to the cent</a:t>
            </a:r>
            <a:endParaRPr lang="en-US" sz="1050" dirty="0"/>
          </a:p>
        </p:txBody>
      </p:sp>
      <p:sp>
        <p:nvSpPr>
          <p:cNvPr id="11" name="Shape 9"/>
          <p:cNvSpPr/>
          <p:nvPr/>
        </p:nvSpPr>
        <p:spPr>
          <a:xfrm>
            <a:off x="8188757" y="2103120"/>
            <a:ext cx="3362858" cy="1417320"/>
          </a:xfrm>
          <a:prstGeom prst="roundRect">
            <a:avLst>
              <a:gd name="adj" fmla="val 5161"/>
            </a:avLst>
          </a:prstGeom>
          <a:solidFill>
            <a:srgbClr val="EEF3FD"/>
          </a:solidFill>
          <a:ln/>
        </p:spPr>
      </p:sp>
      <p:sp>
        <p:nvSpPr>
          <p:cNvPr id="12" name="Text 10"/>
          <p:cNvSpPr txBox="1"/>
          <p:nvPr/>
        </p:nvSpPr>
        <p:spPr>
          <a:xfrm>
            <a:off x="8353349" y="2231136"/>
            <a:ext cx="3033674" cy="779526"/>
          </a:xfrm>
          <a:prstGeom prst="rect">
            <a:avLst/>
          </a:prstGeom>
          <a:noFill/>
          <a:ln/>
        </p:spPr>
        <p:txBody>
          <a:bodyPr wrap="square" lIns="0" tIns="0" rIns="0" bIns="0" rtlCol="0" anchor="b"/>
          <a:lstStyle/>
          <a:p>
            <a:pPr indent="0" marL="0">
              <a:buNone/>
            </a:pPr>
            <a:r>
              <a:rPr lang="en-US" sz="3000" b="1" dirty="0">
                <a:solidFill>
                  <a:srgbClr val="1E2761"/>
                </a:solidFill>
                <a:latin typeface="Cambria" pitchFamily="34" charset="0"/>
                <a:ea typeface="Cambria" pitchFamily="34" charset="-122"/>
                <a:cs typeface="Cambria" pitchFamily="34" charset="-120"/>
              </a:rPr>
              <a:t>264</a:t>
            </a:r>
            <a:endParaRPr lang="en-US" sz="3000" dirty="0"/>
          </a:p>
        </p:txBody>
      </p:sp>
      <p:sp>
        <p:nvSpPr>
          <p:cNvPr id="13" name="Text 11"/>
          <p:cNvSpPr txBox="1"/>
          <p:nvPr/>
        </p:nvSpPr>
        <p:spPr>
          <a:xfrm>
            <a:off x="8353349" y="2925166"/>
            <a:ext cx="3033674" cy="566928"/>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individually tracked 3D legacy projects</a:t>
            </a:r>
            <a:endParaRPr lang="en-US" sz="1050" dirty="0"/>
          </a:p>
        </p:txBody>
      </p:sp>
      <p:sp>
        <p:nvSpPr>
          <p:cNvPr id="14" name="Shape 12"/>
          <p:cNvSpPr/>
          <p:nvPr/>
        </p:nvSpPr>
        <p:spPr>
          <a:xfrm>
            <a:off x="640080" y="3840480"/>
            <a:ext cx="3362858" cy="1417320"/>
          </a:xfrm>
          <a:prstGeom prst="roundRect">
            <a:avLst>
              <a:gd name="adj" fmla="val 5161"/>
            </a:avLst>
          </a:prstGeom>
          <a:solidFill>
            <a:srgbClr val="EEF3FD"/>
          </a:solidFill>
          <a:ln/>
        </p:spPr>
      </p:sp>
      <p:sp>
        <p:nvSpPr>
          <p:cNvPr id="15" name="Text 13"/>
          <p:cNvSpPr txBox="1"/>
          <p:nvPr/>
        </p:nvSpPr>
        <p:spPr>
          <a:xfrm>
            <a:off x="804672" y="3968496"/>
            <a:ext cx="3033674" cy="779526"/>
          </a:xfrm>
          <a:prstGeom prst="rect">
            <a:avLst/>
          </a:prstGeom>
          <a:noFill/>
          <a:ln/>
        </p:spPr>
        <p:txBody>
          <a:bodyPr wrap="square" lIns="0" tIns="0" rIns="0" bIns="0" rtlCol="0" anchor="b"/>
          <a:lstStyle/>
          <a:p>
            <a:pPr indent="0" marL="0">
              <a:buNone/>
            </a:pPr>
            <a:r>
              <a:rPr lang="en-US" sz="3000" b="1" dirty="0">
                <a:solidFill>
                  <a:srgbClr val="1E2761"/>
                </a:solidFill>
                <a:latin typeface="Cambria" pitchFamily="34" charset="0"/>
                <a:ea typeface="Cambria" pitchFamily="34" charset="-122"/>
                <a:cs typeface="Cambria" pitchFamily="34" charset="-120"/>
              </a:rPr>
              <a:t>143</a:t>
            </a:r>
            <a:endParaRPr lang="en-US" sz="3000" dirty="0"/>
          </a:p>
        </p:txBody>
      </p:sp>
      <p:sp>
        <p:nvSpPr>
          <p:cNvPr id="16" name="Text 14"/>
          <p:cNvSpPr txBox="1"/>
          <p:nvPr/>
        </p:nvSpPr>
        <p:spPr>
          <a:xfrm>
            <a:off x="804672" y="4662526"/>
            <a:ext cx="3033674" cy="566928"/>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funding allocation records</a:t>
            </a:r>
            <a:endParaRPr lang="en-US" sz="1050" dirty="0"/>
          </a:p>
        </p:txBody>
      </p:sp>
      <p:sp>
        <p:nvSpPr>
          <p:cNvPr id="17" name="Shape 15"/>
          <p:cNvSpPr/>
          <p:nvPr/>
        </p:nvSpPr>
        <p:spPr>
          <a:xfrm>
            <a:off x="4414418" y="3840480"/>
            <a:ext cx="3362858" cy="1417320"/>
          </a:xfrm>
          <a:prstGeom prst="roundRect">
            <a:avLst>
              <a:gd name="adj" fmla="val 5161"/>
            </a:avLst>
          </a:prstGeom>
          <a:solidFill>
            <a:srgbClr val="EEF3FD"/>
          </a:solidFill>
          <a:ln/>
        </p:spPr>
      </p:sp>
      <p:sp>
        <p:nvSpPr>
          <p:cNvPr id="18" name="Text 16"/>
          <p:cNvSpPr txBox="1"/>
          <p:nvPr/>
        </p:nvSpPr>
        <p:spPr>
          <a:xfrm>
            <a:off x="4579010" y="3968496"/>
            <a:ext cx="3033674" cy="779526"/>
          </a:xfrm>
          <a:prstGeom prst="rect">
            <a:avLst/>
          </a:prstGeom>
          <a:noFill/>
          <a:ln/>
        </p:spPr>
        <p:txBody>
          <a:bodyPr wrap="square" lIns="0" tIns="0" rIns="0" bIns="0" rtlCol="0" anchor="b"/>
          <a:lstStyle/>
          <a:p>
            <a:pPr indent="0" marL="0">
              <a:buNone/>
            </a:pPr>
            <a:r>
              <a:rPr lang="en-US" sz="3000" b="1" dirty="0">
                <a:solidFill>
                  <a:srgbClr val="1E2761"/>
                </a:solidFill>
                <a:latin typeface="Cambria" pitchFamily="34" charset="0"/>
                <a:ea typeface="Cambria" pitchFamily="34" charset="-122"/>
                <a:cs typeface="Cambria" pitchFamily="34" charset="-120"/>
              </a:rPr>
              <a:t>768</a:t>
            </a:r>
            <a:endParaRPr lang="en-US" sz="3000" dirty="0"/>
          </a:p>
        </p:txBody>
      </p:sp>
      <p:sp>
        <p:nvSpPr>
          <p:cNvPr id="19" name="Text 17"/>
          <p:cNvSpPr txBox="1"/>
          <p:nvPr/>
        </p:nvSpPr>
        <p:spPr>
          <a:xfrm>
            <a:off x="4579010" y="4662526"/>
            <a:ext cx="3033674" cy="566928"/>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machine-learning demand scenarios</a:t>
            </a:r>
            <a:endParaRPr lang="en-US" sz="1050" dirty="0"/>
          </a:p>
        </p:txBody>
      </p:sp>
      <p:sp>
        <p:nvSpPr>
          <p:cNvPr id="20" name="Shape 18"/>
          <p:cNvSpPr/>
          <p:nvPr/>
        </p:nvSpPr>
        <p:spPr>
          <a:xfrm>
            <a:off x="8188757" y="3840480"/>
            <a:ext cx="3362858" cy="1417320"/>
          </a:xfrm>
          <a:prstGeom prst="roundRect">
            <a:avLst>
              <a:gd name="adj" fmla="val 5161"/>
            </a:avLst>
          </a:prstGeom>
          <a:solidFill>
            <a:srgbClr val="EEF3FD"/>
          </a:solidFill>
          <a:ln/>
        </p:spPr>
      </p:sp>
      <p:sp>
        <p:nvSpPr>
          <p:cNvPr id="21" name="Text 19"/>
          <p:cNvSpPr txBox="1"/>
          <p:nvPr/>
        </p:nvSpPr>
        <p:spPr>
          <a:xfrm>
            <a:off x="8353349" y="3968496"/>
            <a:ext cx="3033674" cy="779526"/>
          </a:xfrm>
          <a:prstGeom prst="rect">
            <a:avLst/>
          </a:prstGeom>
          <a:noFill/>
          <a:ln/>
        </p:spPr>
        <p:txBody>
          <a:bodyPr wrap="square" lIns="0" tIns="0" rIns="0" bIns="0" rtlCol="0" anchor="b"/>
          <a:lstStyle/>
          <a:p>
            <a:pPr indent="0" marL="0">
              <a:buNone/>
            </a:pPr>
            <a:r>
              <a:rPr lang="en-US" sz="3000" b="1" dirty="0">
                <a:solidFill>
                  <a:srgbClr val="1E2761"/>
                </a:solidFill>
                <a:latin typeface="Cambria" pitchFamily="34" charset="0"/>
                <a:ea typeface="Cambria" pitchFamily="34" charset="-122"/>
                <a:cs typeface="Cambria" pitchFamily="34" charset="-120"/>
              </a:rPr>
              <a:t>22</a:t>
            </a:r>
            <a:endParaRPr lang="en-US" sz="3000" dirty="0"/>
          </a:p>
        </p:txBody>
      </p:sp>
      <p:sp>
        <p:nvSpPr>
          <p:cNvPr id="22" name="Text 20"/>
          <p:cNvSpPr txBox="1"/>
          <p:nvPr/>
        </p:nvSpPr>
        <p:spPr>
          <a:xfrm>
            <a:off x="8353349" y="4662526"/>
            <a:ext cx="3033674" cy="566928"/>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pedestrian corridor zones</a:t>
            </a:r>
            <a:endParaRPr lang="en-US" sz="1050" dirty="0"/>
          </a:p>
        </p:txBody>
      </p:sp>
      <p:sp>
        <p:nvSpPr>
          <p:cNvPr id="23" name="Shape 21"/>
          <p:cNvSpPr/>
          <p:nvPr/>
        </p:nvSpPr>
        <p:spPr>
          <a:xfrm>
            <a:off x="640080" y="5623560"/>
            <a:ext cx="10911535" cy="594360"/>
          </a:xfrm>
          <a:prstGeom prst="roundRect">
            <a:avLst>
              <a:gd name="adj" fmla="val 12308"/>
            </a:avLst>
          </a:prstGeom>
          <a:solidFill>
            <a:srgbClr val="EEF3FD"/>
          </a:solidFill>
          <a:ln/>
        </p:spPr>
      </p:sp>
      <p:sp>
        <p:nvSpPr>
          <p:cNvPr id="24" name="Text 22"/>
          <p:cNvSpPr txBox="1"/>
          <p:nvPr/>
        </p:nvSpPr>
        <p:spPr>
          <a:xfrm>
            <a:off x="914400" y="5623560"/>
            <a:ext cx="10362895" cy="59436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Verified with an independent validation script — 27 of 27 integrity checks passing at every phase of the build.</a:t>
            </a:r>
            <a:endParaRPr lang="en-US" sz="1250" dirty="0"/>
          </a:p>
        </p:txBody>
      </p:sp>
      <p:sp>
        <p:nvSpPr>
          <p:cNvPr id="25" name="Text 23"/>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26" name="Text 24"/>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WHAT MAKES THIS DIFFERENT</a:t>
            </a:r>
            <a:endParaRPr lang="en-US" sz="1200" dirty="0"/>
          </a:p>
        </p:txBody>
      </p:sp>
      <p:sp>
        <p:nvSpPr>
          <p:cNvPr id="3" name="Text 1"/>
          <p:cNvSpPr txBox="1"/>
          <p:nvPr/>
        </p:nvSpPr>
        <p:spPr>
          <a:xfrm>
            <a:off x="640080" y="749808"/>
            <a:ext cx="10911535" cy="7772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Every number carries its own evidence class</a:t>
            </a:r>
            <a:endParaRPr lang="en-US" sz="2700" dirty="0"/>
          </a:p>
        </p:txBody>
      </p:sp>
      <p:sp>
        <p:nvSpPr>
          <p:cNvPr id="4" name="Shape 2"/>
          <p:cNvSpPr/>
          <p:nvPr/>
        </p:nvSpPr>
        <p:spPr>
          <a:xfrm>
            <a:off x="640080" y="1965960"/>
            <a:ext cx="201168" cy="822960"/>
          </a:xfrm>
          <a:prstGeom prst="roundRect">
            <a:avLst>
              <a:gd name="adj" fmla="val 18182"/>
            </a:avLst>
          </a:prstGeom>
          <a:solidFill>
            <a:srgbClr val="1E2761"/>
          </a:solidFill>
          <a:ln/>
        </p:spPr>
      </p:sp>
      <p:sp>
        <p:nvSpPr>
          <p:cNvPr id="5" name="Text 3"/>
          <p:cNvSpPr txBox="1"/>
          <p:nvPr/>
        </p:nvSpPr>
        <p:spPr>
          <a:xfrm>
            <a:off x="1005840" y="1938528"/>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ourier New" pitchFamily="34" charset="0"/>
                <a:ea typeface="Courier New" pitchFamily="34" charset="-122"/>
                <a:cs typeface="Courier New" pitchFamily="34" charset="-120"/>
              </a:rPr>
              <a:t>official_plan</a:t>
            </a:r>
            <a:endParaRPr lang="en-US" sz="1350" dirty="0"/>
          </a:p>
        </p:txBody>
      </p:sp>
      <p:sp>
        <p:nvSpPr>
          <p:cNvPr id="6" name="Text 4"/>
          <p:cNvSpPr txBox="1"/>
          <p:nvPr/>
        </p:nvSpPr>
        <p:spPr>
          <a:xfrm>
            <a:off x="1005840" y="2276856"/>
            <a:ext cx="4937760" cy="548640"/>
          </a:xfrm>
          <a:prstGeom prst="rect">
            <a:avLst/>
          </a:prstGeom>
          <a:noFill/>
          <a:ln/>
        </p:spPr>
        <p:txBody>
          <a:bodyPr wrap="square" lIns="0" tIns="0" rIns="0" bIns="0" rtlCol="0" anchor="ctr"/>
          <a:lstStyle/>
          <a:p>
            <a:pPr indent="0" marL="0">
              <a:lnSpc>
                <a:spcPct val="115000"/>
              </a:lnSpc>
              <a:buNone/>
            </a:pPr>
            <a:r>
              <a:rPr lang="en-US" sz="1150" dirty="0">
                <a:solidFill>
                  <a:srgbClr val="17203D"/>
                </a:solidFill>
                <a:latin typeface="Calibri" pitchFamily="34" charset="0"/>
                <a:ea typeface="Calibri" pitchFamily="34" charset="-122"/>
                <a:cs typeface="Calibri" pitchFamily="34" charset="-120"/>
              </a:rPr>
              <a:t>A published budget or funding allocation from the host committee or transit authority.</a:t>
            </a:r>
            <a:endParaRPr lang="en-US" sz="1150" dirty="0"/>
          </a:p>
        </p:txBody>
      </p:sp>
      <p:sp>
        <p:nvSpPr>
          <p:cNvPr id="7" name="Shape 5"/>
          <p:cNvSpPr/>
          <p:nvPr/>
        </p:nvSpPr>
        <p:spPr>
          <a:xfrm>
            <a:off x="640080" y="2926080"/>
            <a:ext cx="201168" cy="822960"/>
          </a:xfrm>
          <a:prstGeom prst="roundRect">
            <a:avLst>
              <a:gd name="adj" fmla="val 18182"/>
            </a:avLst>
          </a:prstGeom>
          <a:solidFill>
            <a:srgbClr val="0B7A5E"/>
          </a:solidFill>
          <a:ln/>
        </p:spPr>
      </p:sp>
      <p:sp>
        <p:nvSpPr>
          <p:cNvPr id="8" name="Text 6"/>
          <p:cNvSpPr txBox="1"/>
          <p:nvPr/>
        </p:nvSpPr>
        <p:spPr>
          <a:xfrm>
            <a:off x="1005840" y="2898648"/>
            <a:ext cx="2834640" cy="365760"/>
          </a:xfrm>
          <a:prstGeom prst="rect">
            <a:avLst/>
          </a:prstGeom>
          <a:noFill/>
          <a:ln/>
        </p:spPr>
        <p:txBody>
          <a:bodyPr wrap="square" lIns="0" tIns="0" rIns="0" bIns="0" rtlCol="0" anchor="ctr"/>
          <a:lstStyle/>
          <a:p>
            <a:pPr indent="0" marL="0">
              <a:buNone/>
            </a:pPr>
            <a:r>
              <a:rPr lang="en-US" sz="1350" b="1" dirty="0">
                <a:solidFill>
                  <a:srgbClr val="0B7A5E"/>
                </a:solidFill>
                <a:latin typeface="Courier New" pitchFamily="34" charset="0"/>
                <a:ea typeface="Courier New" pitchFamily="34" charset="-122"/>
                <a:cs typeface="Courier New" pitchFamily="34" charset="-120"/>
              </a:rPr>
              <a:t>observed_final</a:t>
            </a:r>
            <a:endParaRPr lang="en-US" sz="1350" dirty="0"/>
          </a:p>
        </p:txBody>
      </p:sp>
      <p:sp>
        <p:nvSpPr>
          <p:cNvPr id="9" name="Text 7"/>
          <p:cNvSpPr txBox="1"/>
          <p:nvPr/>
        </p:nvSpPr>
        <p:spPr>
          <a:xfrm>
            <a:off x="1005840" y="3236976"/>
            <a:ext cx="4937760" cy="548640"/>
          </a:xfrm>
          <a:prstGeom prst="rect">
            <a:avLst/>
          </a:prstGeom>
          <a:noFill/>
          <a:ln/>
        </p:spPr>
        <p:txBody>
          <a:bodyPr wrap="square" lIns="0" tIns="0" rIns="0" bIns="0" rtlCol="0" anchor="ctr"/>
          <a:lstStyle/>
          <a:p>
            <a:pPr indent="0" marL="0">
              <a:lnSpc>
                <a:spcPct val="115000"/>
              </a:lnSpc>
              <a:buNone/>
            </a:pPr>
            <a:r>
              <a:rPr lang="en-US" sz="1150" dirty="0">
                <a:solidFill>
                  <a:srgbClr val="17203D"/>
                </a:solidFill>
                <a:latin typeface="Calibri" pitchFamily="34" charset="0"/>
                <a:ea typeface="Calibri" pitchFamily="34" charset="-122"/>
                <a:cs typeface="Calibri" pitchFamily="34" charset="-120"/>
              </a:rPr>
              <a:t>A number measured after the fact — actual ridership, actual attendance, actual egress time.</a:t>
            </a:r>
            <a:endParaRPr lang="en-US" sz="1150" dirty="0"/>
          </a:p>
        </p:txBody>
      </p:sp>
      <p:sp>
        <p:nvSpPr>
          <p:cNvPr id="10" name="Shape 8"/>
          <p:cNvSpPr/>
          <p:nvPr/>
        </p:nvSpPr>
        <p:spPr>
          <a:xfrm>
            <a:off x="640080" y="3886200"/>
            <a:ext cx="201168" cy="822960"/>
          </a:xfrm>
          <a:prstGeom prst="roundRect">
            <a:avLst>
              <a:gd name="adj" fmla="val 18182"/>
            </a:avLst>
          </a:prstGeom>
          <a:solidFill>
            <a:srgbClr val="9A6A00"/>
          </a:solidFill>
          <a:ln/>
        </p:spPr>
      </p:sp>
      <p:sp>
        <p:nvSpPr>
          <p:cNvPr id="11" name="Text 9"/>
          <p:cNvSpPr txBox="1"/>
          <p:nvPr/>
        </p:nvSpPr>
        <p:spPr>
          <a:xfrm>
            <a:off x="1005840" y="3858768"/>
            <a:ext cx="2834640" cy="365760"/>
          </a:xfrm>
          <a:prstGeom prst="rect">
            <a:avLst/>
          </a:prstGeom>
          <a:noFill/>
          <a:ln/>
        </p:spPr>
        <p:txBody>
          <a:bodyPr wrap="square" lIns="0" tIns="0" rIns="0" bIns="0" rtlCol="0" anchor="ctr"/>
          <a:lstStyle/>
          <a:p>
            <a:pPr indent="0" marL="0">
              <a:buNone/>
            </a:pPr>
            <a:r>
              <a:rPr lang="en-US" sz="1350" b="1" dirty="0">
                <a:solidFill>
                  <a:srgbClr val="9A6A00"/>
                </a:solidFill>
                <a:latin typeface="Courier New" pitchFamily="34" charset="0"/>
                <a:ea typeface="Courier New" pitchFamily="34" charset="-122"/>
                <a:cs typeface="Courier New" pitchFamily="34" charset="-120"/>
              </a:rPr>
              <a:t>engineering_assumption</a:t>
            </a:r>
            <a:endParaRPr lang="en-US" sz="1350" dirty="0"/>
          </a:p>
        </p:txBody>
      </p:sp>
      <p:sp>
        <p:nvSpPr>
          <p:cNvPr id="12" name="Text 10"/>
          <p:cNvSpPr txBox="1"/>
          <p:nvPr/>
        </p:nvSpPr>
        <p:spPr>
          <a:xfrm>
            <a:off x="1005840" y="4197096"/>
            <a:ext cx="4937760" cy="548640"/>
          </a:xfrm>
          <a:prstGeom prst="rect">
            <a:avLst/>
          </a:prstGeom>
          <a:noFill/>
          <a:ln/>
        </p:spPr>
        <p:txBody>
          <a:bodyPr wrap="square" lIns="0" tIns="0" rIns="0" bIns="0" rtlCol="0" anchor="ctr"/>
          <a:lstStyle/>
          <a:p>
            <a:pPr indent="0" marL="0">
              <a:lnSpc>
                <a:spcPct val="115000"/>
              </a:lnSpc>
              <a:buNone/>
            </a:pPr>
            <a:r>
              <a:rPr lang="en-US" sz="1150" dirty="0">
                <a:solidFill>
                  <a:srgbClr val="17203D"/>
                </a:solidFill>
                <a:latin typeface="Calibri" pitchFamily="34" charset="0"/>
                <a:ea typeface="Calibri" pitchFamily="34" charset="-122"/>
                <a:cs typeface="Calibri" pitchFamily="34" charset="-120"/>
              </a:rPr>
              <a:t>A modeling parameter the team supplied because the real bundle doesn't contain it — always disclosed, never hidden.</a:t>
            </a:r>
            <a:endParaRPr lang="en-US" sz="1150" dirty="0"/>
          </a:p>
        </p:txBody>
      </p:sp>
      <p:sp>
        <p:nvSpPr>
          <p:cNvPr id="13" name="Shape 11"/>
          <p:cNvSpPr/>
          <p:nvPr/>
        </p:nvSpPr>
        <p:spPr>
          <a:xfrm>
            <a:off x="6720840" y="1965960"/>
            <a:ext cx="4830775" cy="4160520"/>
          </a:xfrm>
          <a:prstGeom prst="roundRect">
            <a:avLst>
              <a:gd name="adj" fmla="val 1758"/>
            </a:avLst>
          </a:prstGeom>
          <a:solidFill>
            <a:srgbClr val="1E2761"/>
          </a:solidFill>
          <a:ln/>
        </p:spPr>
      </p:sp>
      <p:sp>
        <p:nvSpPr>
          <p:cNvPr id="14" name="Text 12"/>
          <p:cNvSpPr txBox="1"/>
          <p:nvPr/>
        </p:nvSpPr>
        <p:spPr>
          <a:xfrm>
            <a:off x="6995160" y="2194560"/>
            <a:ext cx="4282135" cy="320040"/>
          </a:xfrm>
          <a:prstGeom prst="rect">
            <a:avLst/>
          </a:prstGeom>
          <a:noFill/>
          <a:ln/>
        </p:spPr>
        <p:txBody>
          <a:bodyPr wrap="square" lIns="0" tIns="0" rIns="0" bIns="0" rtlCol="0" anchor="ctr"/>
          <a:lstStyle/>
          <a:p>
            <a:pPr indent="0" marL="0">
              <a:buNone/>
            </a:pPr>
            <a:r>
              <a:rPr lang="en-US" sz="1050" b="1" spc="150" kern="0" dirty="0">
                <a:solidFill>
                  <a:srgbClr val="00C875"/>
                </a:solidFill>
                <a:latin typeface="Calibri" pitchFamily="34" charset="0"/>
                <a:ea typeface="Calibri" pitchFamily="34" charset="-122"/>
                <a:cs typeface="Calibri" pitchFamily="34" charset="-120"/>
              </a:rPr>
              <a:t>SEEN IN THE APP — CITY EVIDENCE PAGE</a:t>
            </a:r>
            <a:endParaRPr lang="en-US" sz="1050" dirty="0"/>
          </a:p>
        </p:txBody>
      </p:sp>
      <p:sp>
        <p:nvSpPr>
          <p:cNvPr id="15" name="Text 13"/>
          <p:cNvSpPr txBox="1"/>
          <p:nvPr/>
        </p:nvSpPr>
        <p:spPr>
          <a:xfrm>
            <a:off x="6995160" y="2487168"/>
            <a:ext cx="4282135"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Match #104 evidence record</a:t>
            </a:r>
            <a:endParaRPr lang="en-US" sz="1600" dirty="0"/>
          </a:p>
        </p:txBody>
      </p:sp>
      <p:sp>
        <p:nvSpPr>
          <p:cNvPr id="16" name="Shape 14"/>
          <p:cNvSpPr/>
          <p:nvPr/>
        </p:nvSpPr>
        <p:spPr>
          <a:xfrm>
            <a:off x="6995160" y="2971800"/>
            <a:ext cx="4282135" cy="2651760"/>
          </a:xfrm>
          <a:prstGeom prst="roundRect">
            <a:avLst>
              <a:gd name="adj" fmla="val 2069"/>
            </a:avLst>
          </a:prstGeom>
          <a:solidFill>
            <a:srgbClr val="141A45"/>
          </a:solidFill>
          <a:ln/>
        </p:spPr>
      </p:sp>
      <p:sp>
        <p:nvSpPr>
          <p:cNvPr id="17" name="Text 15"/>
          <p:cNvSpPr txBox="1"/>
          <p:nvPr/>
        </p:nvSpPr>
        <p:spPr>
          <a:xfrm>
            <a:off x="7178040" y="3127248"/>
            <a:ext cx="242815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Ticket holders</a:t>
            </a:r>
            <a:endParaRPr lang="en-US" sz="1100" dirty="0"/>
          </a:p>
        </p:txBody>
      </p:sp>
      <p:sp>
        <p:nvSpPr>
          <p:cNvPr id="18" name="Text 16"/>
          <p:cNvSpPr txBox="1"/>
          <p:nvPr/>
        </p:nvSpPr>
        <p:spPr>
          <a:xfrm>
            <a:off x="9606193" y="3127248"/>
            <a:ext cx="1488223"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80,663</a:t>
            </a:r>
            <a:endParaRPr lang="en-US" sz="1100" dirty="0"/>
          </a:p>
        </p:txBody>
      </p:sp>
      <p:sp>
        <p:nvSpPr>
          <p:cNvPr id="19" name="Text 17"/>
          <p:cNvSpPr txBox="1"/>
          <p:nvPr/>
        </p:nvSpPr>
        <p:spPr>
          <a:xfrm>
            <a:off x="7178040" y="3493008"/>
            <a:ext cx="242815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NJ Transit egress</a:t>
            </a:r>
            <a:endParaRPr lang="en-US" sz="1100" dirty="0"/>
          </a:p>
        </p:txBody>
      </p:sp>
      <p:sp>
        <p:nvSpPr>
          <p:cNvPr id="20" name="Text 18"/>
          <p:cNvSpPr txBox="1"/>
          <p:nvPr/>
        </p:nvSpPr>
        <p:spPr>
          <a:xfrm>
            <a:off x="9606193" y="3493008"/>
            <a:ext cx="1488223"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21,024</a:t>
            </a:r>
            <a:endParaRPr lang="en-US" sz="1100" dirty="0"/>
          </a:p>
        </p:txBody>
      </p:sp>
      <p:sp>
        <p:nvSpPr>
          <p:cNvPr id="21" name="Text 19"/>
          <p:cNvSpPr txBox="1"/>
          <p:nvPr/>
        </p:nvSpPr>
        <p:spPr>
          <a:xfrm>
            <a:off x="7178040" y="3858768"/>
            <a:ext cx="242815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Uber trips</a:t>
            </a:r>
            <a:endParaRPr lang="en-US" sz="1100" dirty="0"/>
          </a:p>
        </p:txBody>
      </p:sp>
      <p:sp>
        <p:nvSpPr>
          <p:cNvPr id="22" name="Text 20"/>
          <p:cNvSpPr txBox="1"/>
          <p:nvPr/>
        </p:nvSpPr>
        <p:spPr>
          <a:xfrm>
            <a:off x="9606193" y="3858768"/>
            <a:ext cx="1488223"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16,200</a:t>
            </a:r>
            <a:endParaRPr lang="en-US" sz="1100" dirty="0"/>
          </a:p>
        </p:txBody>
      </p:sp>
      <p:sp>
        <p:nvSpPr>
          <p:cNvPr id="23" name="Text 21"/>
          <p:cNvSpPr txBox="1"/>
          <p:nvPr/>
        </p:nvSpPr>
        <p:spPr>
          <a:xfrm>
            <a:off x="7178040" y="4224528"/>
            <a:ext cx="242815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Host shuttles</a:t>
            </a:r>
            <a:endParaRPr lang="en-US" sz="1100" dirty="0"/>
          </a:p>
        </p:txBody>
      </p:sp>
      <p:sp>
        <p:nvSpPr>
          <p:cNvPr id="24" name="Text 22"/>
          <p:cNvSpPr txBox="1"/>
          <p:nvPr/>
        </p:nvSpPr>
        <p:spPr>
          <a:xfrm>
            <a:off x="9606193" y="4224528"/>
            <a:ext cx="1488223"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11,168</a:t>
            </a:r>
            <a:endParaRPr lang="en-US" sz="1100" dirty="0"/>
          </a:p>
        </p:txBody>
      </p:sp>
      <p:sp>
        <p:nvSpPr>
          <p:cNvPr id="25" name="Text 23"/>
          <p:cNvSpPr txBox="1"/>
          <p:nvPr/>
        </p:nvSpPr>
        <p:spPr>
          <a:xfrm>
            <a:off x="7178040" y="4590288"/>
            <a:ext cx="242815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American Dream peds.</a:t>
            </a:r>
            <a:endParaRPr lang="en-US" sz="1100" dirty="0"/>
          </a:p>
        </p:txBody>
      </p:sp>
      <p:sp>
        <p:nvSpPr>
          <p:cNvPr id="26" name="Text 24"/>
          <p:cNvSpPr txBox="1"/>
          <p:nvPr/>
        </p:nvSpPr>
        <p:spPr>
          <a:xfrm>
            <a:off x="9606193" y="4590288"/>
            <a:ext cx="1488223"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65,000</a:t>
            </a:r>
            <a:endParaRPr lang="en-US" sz="1100" dirty="0"/>
          </a:p>
        </p:txBody>
      </p:sp>
      <p:sp>
        <p:nvSpPr>
          <p:cNvPr id="27" name="Text 25"/>
          <p:cNvSpPr txBox="1"/>
          <p:nvPr/>
        </p:nvSpPr>
        <p:spPr>
          <a:xfrm>
            <a:off x="7178040" y="4956048"/>
            <a:ext cx="2428153" cy="329184"/>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Egress clearance</a:t>
            </a:r>
            <a:endParaRPr lang="en-US" sz="1100" dirty="0"/>
          </a:p>
        </p:txBody>
      </p:sp>
      <p:sp>
        <p:nvSpPr>
          <p:cNvPr id="28" name="Text 26"/>
          <p:cNvSpPr txBox="1"/>
          <p:nvPr/>
        </p:nvSpPr>
        <p:spPr>
          <a:xfrm>
            <a:off x="9606193" y="4956048"/>
            <a:ext cx="1488223"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60 min</a:t>
            </a:r>
            <a:endParaRPr lang="en-US" sz="1100" dirty="0"/>
          </a:p>
        </p:txBody>
      </p:sp>
      <p:sp>
        <p:nvSpPr>
          <p:cNvPr id="29" name="Shape 27"/>
          <p:cNvSpPr/>
          <p:nvPr/>
        </p:nvSpPr>
        <p:spPr>
          <a:xfrm>
            <a:off x="6995160" y="5760720"/>
            <a:ext cx="1828800" cy="292608"/>
          </a:xfrm>
          <a:prstGeom prst="roundRect">
            <a:avLst>
              <a:gd name="adj" fmla="val 50000"/>
            </a:avLst>
          </a:prstGeom>
          <a:solidFill>
            <a:srgbClr val="0B7A5E"/>
          </a:solidFill>
          <a:ln/>
        </p:spPr>
      </p:sp>
      <p:sp>
        <p:nvSpPr>
          <p:cNvPr id="30" name="Text 28"/>
          <p:cNvSpPr txBox="1"/>
          <p:nvPr/>
        </p:nvSpPr>
        <p:spPr>
          <a:xfrm>
            <a:off x="6995160" y="5760720"/>
            <a:ext cx="18288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observed_final</a:t>
            </a:r>
            <a:endParaRPr lang="en-US" sz="1000" dirty="0"/>
          </a:p>
        </p:txBody>
      </p:sp>
      <p:sp>
        <p:nvSpPr>
          <p:cNvPr id="31" name="Text 29"/>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32" name="Text 30"/>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THE ENGINE</a:t>
            </a:r>
            <a:endParaRPr lang="en-US" sz="1200" dirty="0"/>
          </a:p>
        </p:txBody>
      </p:sp>
      <p:sp>
        <p:nvSpPr>
          <p:cNvPr id="3" name="Text 1"/>
          <p:cNvSpPr txBox="1"/>
          <p:nvPr/>
        </p:nvSpPr>
        <p:spPr>
          <a:xfrm>
            <a:off x="640080" y="749808"/>
            <a:ext cx="10911535" cy="7772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real optimizer, not a lookup table</a:t>
            </a:r>
            <a:endParaRPr lang="en-US" sz="2700" dirty="0"/>
          </a:p>
        </p:txBody>
      </p:sp>
      <p:sp>
        <p:nvSpPr>
          <p:cNvPr id="4" name="Text 2"/>
          <p:cNvSpPr txBox="1"/>
          <p:nvPr/>
        </p:nvSpPr>
        <p:spPr>
          <a:xfrm>
            <a:off x="640080" y="1965960"/>
            <a:ext cx="5486400" cy="1737360"/>
          </a:xfrm>
          <a:prstGeom prst="rect">
            <a:avLst/>
          </a:prstGeom>
          <a:noFill/>
          <a:ln/>
        </p:spPr>
        <p:txBody>
          <a:bodyPr wrap="square" lIns="0" tIns="0" rIns="0" bIns="0" rtlCol="0" anchor="ctr"/>
          <a:lstStyle/>
          <a:p>
            <a:pPr indent="0" marL="0">
              <a:lnSpc>
                <a:spcPct val="125000"/>
              </a:lnSpc>
              <a:buNone/>
            </a:pPr>
            <a:r>
              <a:rPr lang="en-US" sz="1350" dirty="0">
                <a:solidFill>
                  <a:srgbClr val="17203D"/>
                </a:solidFill>
                <a:latin typeface="Calibri" pitchFamily="34" charset="0"/>
                <a:ea typeface="Calibri" pitchFamily="34" charset="-122"/>
                <a:cs typeface="Calibri" pitchFamily="34" charset="-120"/>
              </a:rPr>
              <a:t>The portfolio optimizer is a mixed-integer linear program built on scipy.optimize.milp. Given a region's actual budget, weighted priorities (cost, emissions, accessibility, legacy value, and more), and hard constraints, it selects the combination of interventions — bus lanes, rail capacity, pedestrian bridges, mobility hubs — that maximizes the weighted objective.</a:t>
            </a:r>
            <a:endParaRPr lang="en-US" sz="1350" dirty="0"/>
          </a:p>
        </p:txBody>
      </p:sp>
      <p:sp>
        <p:nvSpPr>
          <p:cNvPr id="5" name="Text 3"/>
          <p:cNvSpPr txBox="1"/>
          <p:nvPr/>
        </p:nvSpPr>
        <p:spPr>
          <a:xfrm>
            <a:off x="640080" y="3794760"/>
            <a:ext cx="5486400" cy="1371600"/>
          </a:xfrm>
          <a:prstGeom prst="rect">
            <a:avLst/>
          </a:prstGeom>
          <a:noFill/>
          <a:ln/>
        </p:spPr>
        <p:txBody>
          <a:bodyPr wrap="square" lIns="0" tIns="0" rIns="0" bIns="0" rtlCol="0" anchor="ctr"/>
          <a:lstStyle/>
          <a:p>
            <a:pPr indent="0" marL="0">
              <a:lnSpc>
                <a:spcPct val="125000"/>
              </a:lnSpc>
              <a:buNone/>
            </a:pPr>
            <a:r>
              <a:rPr lang="en-US" sz="1350" dirty="0">
                <a:solidFill>
                  <a:srgbClr val="17203D"/>
                </a:solidFill>
                <a:latin typeface="Calibri" pitchFamily="34" charset="0"/>
                <a:ea typeface="Calibri" pitchFamily="34" charset="-122"/>
                <a:cs typeface="Calibri" pitchFamily="34" charset="-120"/>
              </a:rPr>
              <a:t>Before it ever ran on live data, we proved it reproduced the reference model's own results exactly, across all 11 host regions — then proved it responds correctly when weights change, and fails safely with a structured explanation when a request is infeasible.</a:t>
            </a:r>
            <a:endParaRPr lang="en-US" sz="1350" dirty="0"/>
          </a:p>
        </p:txBody>
      </p:sp>
      <p:sp>
        <p:nvSpPr>
          <p:cNvPr id="6" name="Shape 4"/>
          <p:cNvSpPr/>
          <p:nvPr/>
        </p:nvSpPr>
        <p:spPr>
          <a:xfrm>
            <a:off x="6263640" y="1965960"/>
            <a:ext cx="5287975" cy="3977640"/>
          </a:xfrm>
          <a:prstGeom prst="roundRect">
            <a:avLst>
              <a:gd name="adj" fmla="val 1839"/>
            </a:avLst>
          </a:prstGeom>
          <a:solidFill>
            <a:srgbClr val="EEF3FD"/>
          </a:solidFill>
          <a:ln/>
        </p:spPr>
      </p:sp>
      <p:sp>
        <p:nvSpPr>
          <p:cNvPr id="7" name="Text 5"/>
          <p:cNvSpPr txBox="1"/>
          <p:nvPr/>
        </p:nvSpPr>
        <p:spPr>
          <a:xfrm>
            <a:off x="6537960" y="2194560"/>
            <a:ext cx="4739335" cy="320040"/>
          </a:xfrm>
          <a:prstGeom prst="rect">
            <a:avLst/>
          </a:prstGeom>
          <a:noFill/>
          <a:ln/>
        </p:spPr>
        <p:txBody>
          <a:bodyPr wrap="square" lIns="0" tIns="0" rIns="0" bIns="0" rtlCol="0" anchor="ctr"/>
          <a:lstStyle/>
          <a:p>
            <a:pPr indent="0" marL="0">
              <a:buNone/>
            </a:pPr>
            <a:r>
              <a:rPr lang="en-US" sz="1050" b="1" spc="150" kern="0" dirty="0">
                <a:solidFill>
                  <a:srgbClr val="1E2761"/>
                </a:solidFill>
                <a:latin typeface="Calibri" pitchFamily="34" charset="0"/>
                <a:ea typeface="Calibri" pitchFamily="34" charset="-122"/>
                <a:cs typeface="Calibri" pitchFamily="34" charset="-120"/>
              </a:rPr>
              <a:t>NY/NJ EXAMPLE SCENARIO</a:t>
            </a:r>
            <a:endParaRPr lang="en-US" sz="1050" dirty="0"/>
          </a:p>
        </p:txBody>
      </p:sp>
      <p:sp>
        <p:nvSpPr>
          <p:cNvPr id="8" name="Text 6"/>
          <p:cNvSpPr txBox="1"/>
          <p:nvPr/>
        </p:nvSpPr>
        <p:spPr>
          <a:xfrm>
            <a:off x="6537960" y="2606040"/>
            <a:ext cx="4739335"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$10.44M</a:t>
            </a:r>
            <a:endParaRPr lang="en-US" sz="2200" dirty="0"/>
          </a:p>
        </p:txBody>
      </p:sp>
      <p:sp>
        <p:nvSpPr>
          <p:cNvPr id="9" name="Text 7"/>
          <p:cNvSpPr txBox="1"/>
          <p:nvPr/>
        </p:nvSpPr>
        <p:spPr>
          <a:xfrm>
            <a:off x="6537960" y="2990088"/>
            <a:ext cx="4739335" cy="32004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region budget</a:t>
            </a:r>
            <a:endParaRPr lang="en-US" sz="1100" dirty="0"/>
          </a:p>
        </p:txBody>
      </p:sp>
      <p:sp>
        <p:nvSpPr>
          <p:cNvPr id="10" name="Text 8"/>
          <p:cNvSpPr txBox="1"/>
          <p:nvPr/>
        </p:nvSpPr>
        <p:spPr>
          <a:xfrm>
            <a:off x="6537960" y="3401568"/>
            <a:ext cx="4739335"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$10.33M</a:t>
            </a:r>
            <a:endParaRPr lang="en-US" sz="2200" dirty="0"/>
          </a:p>
        </p:txBody>
      </p:sp>
      <p:sp>
        <p:nvSpPr>
          <p:cNvPr id="11" name="Text 9"/>
          <p:cNvSpPr txBox="1"/>
          <p:nvPr/>
        </p:nvSpPr>
        <p:spPr>
          <a:xfrm>
            <a:off x="6537960" y="3785616"/>
            <a:ext cx="4739335" cy="32004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optimizer spend</a:t>
            </a:r>
            <a:endParaRPr lang="en-US" sz="1100" dirty="0"/>
          </a:p>
        </p:txBody>
      </p:sp>
      <p:sp>
        <p:nvSpPr>
          <p:cNvPr id="12" name="Text 10"/>
          <p:cNvSpPr txBox="1"/>
          <p:nvPr/>
        </p:nvSpPr>
        <p:spPr>
          <a:xfrm>
            <a:off x="6537960" y="4197096"/>
            <a:ext cx="4739335"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18</a:t>
            </a:r>
            <a:endParaRPr lang="en-US" sz="2200" dirty="0"/>
          </a:p>
        </p:txBody>
      </p:sp>
      <p:sp>
        <p:nvSpPr>
          <p:cNvPr id="13" name="Text 11"/>
          <p:cNvSpPr txBox="1"/>
          <p:nvPr/>
        </p:nvSpPr>
        <p:spPr>
          <a:xfrm>
            <a:off x="6537960" y="4581144"/>
            <a:ext cx="4739335" cy="32004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projects selected</a:t>
            </a:r>
            <a:endParaRPr lang="en-US" sz="1100" dirty="0"/>
          </a:p>
        </p:txBody>
      </p:sp>
      <p:sp>
        <p:nvSpPr>
          <p:cNvPr id="14" name="Text 12"/>
          <p:cNvSpPr txBox="1"/>
          <p:nvPr/>
        </p:nvSpPr>
        <p:spPr>
          <a:xfrm>
            <a:off x="6537960" y="4992624"/>
            <a:ext cx="4739335" cy="4114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0</a:t>
            </a:r>
            <a:endParaRPr lang="en-US" sz="2200" dirty="0"/>
          </a:p>
        </p:txBody>
      </p:sp>
      <p:sp>
        <p:nvSpPr>
          <p:cNvPr id="15" name="Text 13"/>
          <p:cNvSpPr txBox="1"/>
          <p:nvPr/>
        </p:nvSpPr>
        <p:spPr>
          <a:xfrm>
            <a:off x="6537960" y="5376672"/>
            <a:ext cx="4739335" cy="320040"/>
          </a:xfrm>
          <a:prstGeom prst="rect">
            <a:avLst/>
          </a:prstGeom>
          <a:noFill/>
          <a:ln/>
        </p:spPr>
        <p:txBody>
          <a:bodyPr wrap="square" lIns="0" tIns="0" rIns="0" bIns="0" rtlCol="0" anchor="ctr"/>
          <a:lstStyle/>
          <a:p>
            <a:pPr indent="0" marL="0">
              <a:buNone/>
            </a:pPr>
            <a:r>
              <a:rPr lang="en-US" sz="1100" dirty="0">
                <a:solidFill>
                  <a:srgbClr val="5A6B8C"/>
                </a:solidFill>
                <a:latin typeface="Calibri" pitchFamily="34" charset="0"/>
                <a:ea typeface="Calibri" pitchFamily="34" charset="-122"/>
                <a:cs typeface="Calibri" pitchFamily="34" charset="-120"/>
              </a:rPr>
              <a:t>canned answers — recalculated every run</a:t>
            </a:r>
            <a:endParaRPr lang="en-US" sz="1100" dirty="0"/>
          </a:p>
        </p:txBody>
      </p:sp>
      <p:sp>
        <p:nvSpPr>
          <p:cNvPr id="16" name="Text 14"/>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17" name="Text 15"/>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THE VISUALIZATION</a:t>
            </a:r>
            <a:endParaRPr lang="en-US" sz="1200" dirty="0"/>
          </a:p>
        </p:txBody>
      </p:sp>
      <p:sp>
        <p:nvSpPr>
          <p:cNvPr id="3" name="Text 1"/>
          <p:cNvSpPr txBox="1"/>
          <p:nvPr/>
        </p:nvSpPr>
        <p:spPr>
          <a:xfrm>
            <a:off x="640080" y="749808"/>
            <a:ext cx="10911535" cy="777240"/>
          </a:xfrm>
          <a:prstGeom prst="rect">
            <a:avLst/>
          </a:prstGeom>
          <a:noFill/>
          <a:ln/>
        </p:spPr>
        <p:txBody>
          <a:bodyPr wrap="square" lIns="0" tIns="0" rIns="0" bIns="0"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One map, four honest views of the same decision</a:t>
            </a:r>
            <a:endParaRPr lang="en-US" sz="2600" dirty="0"/>
          </a:p>
        </p:txBody>
      </p:sp>
      <p:sp>
        <p:nvSpPr>
          <p:cNvPr id="4" name="Text 2"/>
          <p:cNvSpPr txBox="1"/>
          <p:nvPr/>
        </p:nvSpPr>
        <p:spPr>
          <a:xfrm>
            <a:off x="640080" y="1417320"/>
            <a:ext cx="10911535" cy="411480"/>
          </a:xfrm>
          <a:prstGeom prst="rect">
            <a:avLst/>
          </a:prstGeom>
          <a:noFill/>
          <a:ln/>
        </p:spPr>
        <p:txBody>
          <a:bodyPr wrap="square" lIns="0" tIns="0" rIns="0" bIns="0" rtlCol="0" anchor="ctr"/>
          <a:lstStyle/>
          <a:p>
            <a:pPr indent="0" marL="0">
              <a:buNone/>
            </a:pPr>
            <a:r>
              <a:rPr lang="en-US" sz="1300" dirty="0">
                <a:solidFill>
                  <a:srgbClr val="5A6B8C"/>
                </a:solidFill>
                <a:latin typeface="Calibri" pitchFamily="34" charset="0"/>
                <a:ea typeface="Calibri" pitchFamily="34" charset="-122"/>
                <a:cs typeface="Calibri" pitchFamily="34" charset="-120"/>
              </a:rPr>
              <a:t>The map never invents a selected project — every toggle reads directly from the optimizer's actual result for the scenario on screen.</a:t>
            </a:r>
            <a:endParaRPr lang="en-US" sz="1300" dirty="0"/>
          </a:p>
        </p:txBody>
      </p:sp>
      <p:sp>
        <p:nvSpPr>
          <p:cNvPr id="5" name="Shape 3"/>
          <p:cNvSpPr/>
          <p:nvPr/>
        </p:nvSpPr>
        <p:spPr>
          <a:xfrm>
            <a:off x="640080" y="2148840"/>
            <a:ext cx="2522144" cy="3200400"/>
          </a:xfrm>
          <a:prstGeom prst="roundRect">
            <a:avLst>
              <a:gd name="adj" fmla="val 2900"/>
            </a:avLst>
          </a:prstGeom>
          <a:solidFill>
            <a:srgbClr val="EEF3FD"/>
          </a:solidFill>
          <a:ln/>
        </p:spPr>
      </p:sp>
      <p:sp>
        <p:nvSpPr>
          <p:cNvPr id="6" name="Shape 4"/>
          <p:cNvSpPr/>
          <p:nvPr/>
        </p:nvSpPr>
        <p:spPr>
          <a:xfrm>
            <a:off x="822960" y="2350008"/>
            <a:ext cx="2156384" cy="1188720"/>
          </a:xfrm>
          <a:prstGeom prst="roundRect">
            <a:avLst>
              <a:gd name="adj" fmla="val 4615"/>
            </a:avLst>
          </a:prstGeom>
          <a:solidFill>
            <a:srgbClr val="5A6B8C">
              <a:alpha val="88000"/>
            </a:srgbClr>
          </a:solidFill>
          <a:ln/>
        </p:spPr>
      </p:sp>
      <p:sp>
        <p:nvSpPr>
          <p:cNvPr id="7" name="Shape 5"/>
          <p:cNvSpPr/>
          <p:nvPr/>
        </p:nvSpPr>
        <p:spPr>
          <a:xfrm>
            <a:off x="1005840" y="2606040"/>
            <a:ext cx="146304" cy="146304"/>
          </a:xfrm>
          <a:prstGeom prst="ellipse">
            <a:avLst/>
          </a:prstGeom>
          <a:solidFill>
            <a:srgbClr val="FFFFFF"/>
          </a:solidFill>
          <a:ln/>
        </p:spPr>
      </p:sp>
      <p:sp>
        <p:nvSpPr>
          <p:cNvPr id="8" name="Shape 6"/>
          <p:cNvSpPr/>
          <p:nvPr/>
        </p:nvSpPr>
        <p:spPr>
          <a:xfrm>
            <a:off x="1828800" y="2606040"/>
            <a:ext cx="146304" cy="146304"/>
          </a:xfrm>
          <a:prstGeom prst="ellipse">
            <a:avLst/>
          </a:prstGeom>
          <a:solidFill>
            <a:srgbClr val="FFFFFF"/>
          </a:solidFill>
          <a:ln/>
        </p:spPr>
      </p:sp>
      <p:sp>
        <p:nvSpPr>
          <p:cNvPr id="9" name="Shape 7"/>
          <p:cNvSpPr/>
          <p:nvPr/>
        </p:nvSpPr>
        <p:spPr>
          <a:xfrm>
            <a:off x="1005840" y="3108960"/>
            <a:ext cx="146304" cy="146304"/>
          </a:xfrm>
          <a:prstGeom prst="ellipse">
            <a:avLst/>
          </a:prstGeom>
          <a:solidFill>
            <a:srgbClr val="FFFFFF"/>
          </a:solidFill>
          <a:ln/>
        </p:spPr>
      </p:sp>
      <p:sp>
        <p:nvSpPr>
          <p:cNvPr id="10" name="Shape 8"/>
          <p:cNvSpPr/>
          <p:nvPr/>
        </p:nvSpPr>
        <p:spPr>
          <a:xfrm>
            <a:off x="1828800" y="3108960"/>
            <a:ext cx="146304" cy="146304"/>
          </a:xfrm>
          <a:prstGeom prst="ellipse">
            <a:avLst/>
          </a:prstGeom>
          <a:solidFill>
            <a:srgbClr val="FFFFFF"/>
          </a:solidFill>
          <a:ln/>
        </p:spPr>
      </p:sp>
      <p:sp>
        <p:nvSpPr>
          <p:cNvPr id="11" name="Text 9"/>
          <p:cNvSpPr txBox="1"/>
          <p:nvPr/>
        </p:nvSpPr>
        <p:spPr>
          <a:xfrm>
            <a:off x="841248" y="3703320"/>
            <a:ext cx="211980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Baseline</a:t>
            </a:r>
            <a:endParaRPr lang="en-US" sz="1450" dirty="0"/>
          </a:p>
        </p:txBody>
      </p:sp>
      <p:sp>
        <p:nvSpPr>
          <p:cNvPr id="12" name="Text 10"/>
          <p:cNvSpPr txBox="1"/>
          <p:nvPr/>
        </p:nvSpPr>
        <p:spPr>
          <a:xfrm>
            <a:off x="841248" y="4206240"/>
            <a:ext cx="2119808" cy="1051560"/>
          </a:xfrm>
          <a:prstGeom prst="rect">
            <a:avLst/>
          </a:prstGeom>
          <a:noFill/>
          <a:ln/>
        </p:spPr>
        <p:txBody>
          <a:bodyPr wrap="square" lIns="0" tIns="0" rIns="0" bIns="0" rtlCol="0" anchor="ctr"/>
          <a:lstStyle/>
          <a:p>
            <a:pPr indent="0" marL="0">
              <a:lnSpc>
                <a:spcPct val="118000"/>
              </a:lnSpc>
              <a:buNone/>
            </a:pPr>
            <a:r>
              <a:rPr lang="en-US" sz="1050" dirty="0">
                <a:solidFill>
                  <a:srgbClr val="17203D"/>
                </a:solidFill>
                <a:latin typeface="Calibri" pitchFamily="34" charset="0"/>
                <a:ea typeface="Calibri" pitchFamily="34" charset="-122"/>
                <a:cs typeface="Calibri" pitchFamily="34" charset="-120"/>
              </a:rPr>
              <a:t>No proposals shown — the region as it stands today.</a:t>
            </a:r>
            <a:endParaRPr lang="en-US" sz="1050" dirty="0"/>
          </a:p>
        </p:txBody>
      </p:sp>
      <p:sp>
        <p:nvSpPr>
          <p:cNvPr id="13" name="Shape 11"/>
          <p:cNvSpPr/>
          <p:nvPr/>
        </p:nvSpPr>
        <p:spPr>
          <a:xfrm>
            <a:off x="3436544" y="2148840"/>
            <a:ext cx="2522144" cy="3200400"/>
          </a:xfrm>
          <a:prstGeom prst="roundRect">
            <a:avLst>
              <a:gd name="adj" fmla="val 2900"/>
            </a:avLst>
          </a:prstGeom>
          <a:solidFill>
            <a:srgbClr val="EEF3FD"/>
          </a:solidFill>
          <a:ln/>
        </p:spPr>
      </p:sp>
      <p:sp>
        <p:nvSpPr>
          <p:cNvPr id="14" name="Shape 12"/>
          <p:cNvSpPr/>
          <p:nvPr/>
        </p:nvSpPr>
        <p:spPr>
          <a:xfrm>
            <a:off x="3619424" y="2350008"/>
            <a:ext cx="2156384" cy="1188720"/>
          </a:xfrm>
          <a:prstGeom prst="roundRect">
            <a:avLst>
              <a:gd name="adj" fmla="val 4615"/>
            </a:avLst>
          </a:prstGeom>
          <a:solidFill>
            <a:srgbClr val="C98A1B">
              <a:alpha val="88000"/>
            </a:srgbClr>
          </a:solidFill>
          <a:ln/>
        </p:spPr>
      </p:sp>
      <p:sp>
        <p:nvSpPr>
          <p:cNvPr id="15" name="Shape 13"/>
          <p:cNvSpPr/>
          <p:nvPr/>
        </p:nvSpPr>
        <p:spPr>
          <a:xfrm>
            <a:off x="3802304" y="2606040"/>
            <a:ext cx="146304" cy="146304"/>
          </a:xfrm>
          <a:prstGeom prst="ellipse">
            <a:avLst/>
          </a:prstGeom>
          <a:solidFill>
            <a:srgbClr val="FFFFFF"/>
          </a:solidFill>
          <a:ln/>
        </p:spPr>
      </p:sp>
      <p:sp>
        <p:nvSpPr>
          <p:cNvPr id="16" name="Shape 14"/>
          <p:cNvSpPr/>
          <p:nvPr/>
        </p:nvSpPr>
        <p:spPr>
          <a:xfrm>
            <a:off x="4625264" y="2606040"/>
            <a:ext cx="146304" cy="146304"/>
          </a:xfrm>
          <a:prstGeom prst="ellipse">
            <a:avLst/>
          </a:prstGeom>
          <a:solidFill>
            <a:srgbClr val="FFFFFF"/>
          </a:solidFill>
          <a:ln/>
        </p:spPr>
      </p:sp>
      <p:sp>
        <p:nvSpPr>
          <p:cNvPr id="17" name="Shape 15"/>
          <p:cNvSpPr/>
          <p:nvPr/>
        </p:nvSpPr>
        <p:spPr>
          <a:xfrm>
            <a:off x="3802304" y="3108960"/>
            <a:ext cx="146304" cy="146304"/>
          </a:xfrm>
          <a:prstGeom prst="ellipse">
            <a:avLst/>
          </a:prstGeom>
          <a:solidFill>
            <a:srgbClr val="FFFFFF"/>
          </a:solidFill>
          <a:ln/>
        </p:spPr>
      </p:sp>
      <p:sp>
        <p:nvSpPr>
          <p:cNvPr id="18" name="Shape 16"/>
          <p:cNvSpPr/>
          <p:nvPr/>
        </p:nvSpPr>
        <p:spPr>
          <a:xfrm>
            <a:off x="4625264" y="3108960"/>
            <a:ext cx="146304" cy="146304"/>
          </a:xfrm>
          <a:prstGeom prst="ellipse">
            <a:avLst/>
          </a:prstGeom>
          <a:solidFill>
            <a:srgbClr val="FFFFFF"/>
          </a:solidFill>
          <a:ln/>
        </p:spPr>
      </p:sp>
      <p:sp>
        <p:nvSpPr>
          <p:cNvPr id="19" name="Text 17"/>
          <p:cNvSpPr txBox="1"/>
          <p:nvPr/>
        </p:nvSpPr>
        <p:spPr>
          <a:xfrm>
            <a:off x="3637712" y="3703320"/>
            <a:ext cx="211980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Temporary Operations</a:t>
            </a:r>
            <a:endParaRPr lang="en-US" sz="1450" dirty="0"/>
          </a:p>
        </p:txBody>
      </p:sp>
      <p:sp>
        <p:nvSpPr>
          <p:cNvPr id="20" name="Text 18"/>
          <p:cNvSpPr txBox="1"/>
          <p:nvPr/>
        </p:nvSpPr>
        <p:spPr>
          <a:xfrm>
            <a:off x="3637712" y="4206240"/>
            <a:ext cx="2119808" cy="1051560"/>
          </a:xfrm>
          <a:prstGeom prst="rect">
            <a:avLst/>
          </a:prstGeom>
          <a:noFill/>
          <a:ln/>
        </p:spPr>
        <p:txBody>
          <a:bodyPr wrap="square" lIns="0" tIns="0" rIns="0" bIns="0" rtlCol="0" anchor="ctr"/>
          <a:lstStyle/>
          <a:p>
            <a:pPr indent="0" marL="0">
              <a:lnSpc>
                <a:spcPct val="118000"/>
              </a:lnSpc>
              <a:buNone/>
            </a:pPr>
            <a:r>
              <a:rPr lang="en-US" sz="1050" dirty="0">
                <a:solidFill>
                  <a:srgbClr val="17203D"/>
                </a:solidFill>
                <a:latin typeface="Calibri" pitchFamily="34" charset="0"/>
                <a:ea typeface="Calibri" pitchFamily="34" charset="-122"/>
                <a:cs typeface="Calibri" pitchFamily="34" charset="-120"/>
              </a:rPr>
              <a:t>Only the -TMP interventions the optimizer selected for match-day use.</a:t>
            </a:r>
            <a:endParaRPr lang="en-US" sz="1050" dirty="0"/>
          </a:p>
        </p:txBody>
      </p:sp>
      <p:sp>
        <p:nvSpPr>
          <p:cNvPr id="21" name="Shape 19"/>
          <p:cNvSpPr/>
          <p:nvPr/>
        </p:nvSpPr>
        <p:spPr>
          <a:xfrm>
            <a:off x="6233008" y="2148840"/>
            <a:ext cx="2522144" cy="3200400"/>
          </a:xfrm>
          <a:prstGeom prst="roundRect">
            <a:avLst>
              <a:gd name="adj" fmla="val 2900"/>
            </a:avLst>
          </a:prstGeom>
          <a:solidFill>
            <a:srgbClr val="EEF3FD"/>
          </a:solidFill>
          <a:ln/>
        </p:spPr>
      </p:sp>
      <p:sp>
        <p:nvSpPr>
          <p:cNvPr id="22" name="Shape 20"/>
          <p:cNvSpPr/>
          <p:nvPr/>
        </p:nvSpPr>
        <p:spPr>
          <a:xfrm>
            <a:off x="6415888" y="2350008"/>
            <a:ext cx="2156384" cy="1188720"/>
          </a:xfrm>
          <a:prstGeom prst="roundRect">
            <a:avLst>
              <a:gd name="adj" fmla="val 4615"/>
            </a:avLst>
          </a:prstGeom>
          <a:solidFill>
            <a:srgbClr val="0B7A5E">
              <a:alpha val="88000"/>
            </a:srgbClr>
          </a:solidFill>
          <a:ln/>
        </p:spPr>
      </p:sp>
      <p:sp>
        <p:nvSpPr>
          <p:cNvPr id="23" name="Shape 21"/>
          <p:cNvSpPr/>
          <p:nvPr/>
        </p:nvSpPr>
        <p:spPr>
          <a:xfrm>
            <a:off x="6598768" y="2606040"/>
            <a:ext cx="146304" cy="146304"/>
          </a:xfrm>
          <a:prstGeom prst="ellipse">
            <a:avLst/>
          </a:prstGeom>
          <a:solidFill>
            <a:srgbClr val="FFFFFF"/>
          </a:solidFill>
          <a:ln/>
        </p:spPr>
      </p:sp>
      <p:sp>
        <p:nvSpPr>
          <p:cNvPr id="24" name="Shape 22"/>
          <p:cNvSpPr/>
          <p:nvPr/>
        </p:nvSpPr>
        <p:spPr>
          <a:xfrm>
            <a:off x="7421728" y="2606040"/>
            <a:ext cx="146304" cy="146304"/>
          </a:xfrm>
          <a:prstGeom prst="ellipse">
            <a:avLst/>
          </a:prstGeom>
          <a:solidFill>
            <a:srgbClr val="FFFFFF"/>
          </a:solidFill>
          <a:ln/>
        </p:spPr>
      </p:sp>
      <p:sp>
        <p:nvSpPr>
          <p:cNvPr id="25" name="Shape 23"/>
          <p:cNvSpPr/>
          <p:nvPr/>
        </p:nvSpPr>
        <p:spPr>
          <a:xfrm>
            <a:off x="6598768" y="3108960"/>
            <a:ext cx="146304" cy="146304"/>
          </a:xfrm>
          <a:prstGeom prst="ellipse">
            <a:avLst/>
          </a:prstGeom>
          <a:solidFill>
            <a:srgbClr val="FFFFFF"/>
          </a:solidFill>
          <a:ln/>
        </p:spPr>
      </p:sp>
      <p:sp>
        <p:nvSpPr>
          <p:cNvPr id="26" name="Shape 24"/>
          <p:cNvSpPr/>
          <p:nvPr/>
        </p:nvSpPr>
        <p:spPr>
          <a:xfrm>
            <a:off x="7421728" y="3108960"/>
            <a:ext cx="146304" cy="146304"/>
          </a:xfrm>
          <a:prstGeom prst="ellipse">
            <a:avLst/>
          </a:prstGeom>
          <a:solidFill>
            <a:srgbClr val="FFFFFF"/>
          </a:solidFill>
          <a:ln/>
        </p:spPr>
      </p:sp>
      <p:sp>
        <p:nvSpPr>
          <p:cNvPr id="27" name="Text 25"/>
          <p:cNvSpPr txBox="1"/>
          <p:nvPr/>
        </p:nvSpPr>
        <p:spPr>
          <a:xfrm>
            <a:off x="6434176" y="3703320"/>
            <a:ext cx="211980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Selected Legacy</a:t>
            </a:r>
            <a:endParaRPr lang="en-US" sz="1450" dirty="0"/>
          </a:p>
        </p:txBody>
      </p:sp>
      <p:sp>
        <p:nvSpPr>
          <p:cNvPr id="28" name="Text 26"/>
          <p:cNvSpPr txBox="1"/>
          <p:nvPr/>
        </p:nvSpPr>
        <p:spPr>
          <a:xfrm>
            <a:off x="6434176" y="4206240"/>
            <a:ext cx="2119808" cy="1051560"/>
          </a:xfrm>
          <a:prstGeom prst="rect">
            <a:avLst/>
          </a:prstGeom>
          <a:noFill/>
          <a:ln/>
        </p:spPr>
        <p:txBody>
          <a:bodyPr wrap="square" lIns="0" tIns="0" rIns="0" bIns="0" rtlCol="0" anchor="ctr"/>
          <a:lstStyle/>
          <a:p>
            <a:pPr indent="0" marL="0">
              <a:lnSpc>
                <a:spcPct val="118000"/>
              </a:lnSpc>
              <a:buNone/>
            </a:pPr>
            <a:r>
              <a:rPr lang="en-US" sz="1050" dirty="0">
                <a:solidFill>
                  <a:srgbClr val="17203D"/>
                </a:solidFill>
                <a:latin typeface="Calibri" pitchFamily="34" charset="0"/>
                <a:ea typeface="Calibri" pitchFamily="34" charset="-122"/>
                <a:cs typeface="Calibri" pitchFamily="34" charset="-120"/>
              </a:rPr>
              <a:t>Only the -PERM interventions the optimizer chose to keep permanently.</a:t>
            </a:r>
            <a:endParaRPr lang="en-US" sz="1050" dirty="0"/>
          </a:p>
        </p:txBody>
      </p:sp>
      <p:sp>
        <p:nvSpPr>
          <p:cNvPr id="29" name="Shape 27"/>
          <p:cNvSpPr/>
          <p:nvPr/>
        </p:nvSpPr>
        <p:spPr>
          <a:xfrm>
            <a:off x="9029471" y="2148840"/>
            <a:ext cx="2522144" cy="3200400"/>
          </a:xfrm>
          <a:prstGeom prst="roundRect">
            <a:avLst>
              <a:gd name="adj" fmla="val 2900"/>
            </a:avLst>
          </a:prstGeom>
          <a:solidFill>
            <a:srgbClr val="EEF3FD"/>
          </a:solidFill>
          <a:ln/>
        </p:spPr>
      </p:sp>
      <p:sp>
        <p:nvSpPr>
          <p:cNvPr id="30" name="Shape 28"/>
          <p:cNvSpPr/>
          <p:nvPr/>
        </p:nvSpPr>
        <p:spPr>
          <a:xfrm>
            <a:off x="9212351" y="2350008"/>
            <a:ext cx="2156384" cy="1188720"/>
          </a:xfrm>
          <a:prstGeom prst="roundRect">
            <a:avLst>
              <a:gd name="adj" fmla="val 4615"/>
            </a:avLst>
          </a:prstGeom>
          <a:solidFill>
            <a:srgbClr val="1E2761">
              <a:alpha val="88000"/>
            </a:srgbClr>
          </a:solidFill>
          <a:ln/>
        </p:spPr>
      </p:sp>
      <p:sp>
        <p:nvSpPr>
          <p:cNvPr id="31" name="Shape 29"/>
          <p:cNvSpPr/>
          <p:nvPr/>
        </p:nvSpPr>
        <p:spPr>
          <a:xfrm>
            <a:off x="9395231" y="2606040"/>
            <a:ext cx="146304" cy="146304"/>
          </a:xfrm>
          <a:prstGeom prst="ellipse">
            <a:avLst/>
          </a:prstGeom>
          <a:solidFill>
            <a:srgbClr val="FFFFFF"/>
          </a:solidFill>
          <a:ln/>
        </p:spPr>
      </p:sp>
      <p:sp>
        <p:nvSpPr>
          <p:cNvPr id="32" name="Shape 30"/>
          <p:cNvSpPr/>
          <p:nvPr/>
        </p:nvSpPr>
        <p:spPr>
          <a:xfrm>
            <a:off x="10218191" y="2606040"/>
            <a:ext cx="146304" cy="146304"/>
          </a:xfrm>
          <a:prstGeom prst="ellipse">
            <a:avLst/>
          </a:prstGeom>
          <a:solidFill>
            <a:srgbClr val="FFFFFF"/>
          </a:solidFill>
          <a:ln/>
        </p:spPr>
      </p:sp>
      <p:sp>
        <p:nvSpPr>
          <p:cNvPr id="33" name="Shape 31"/>
          <p:cNvSpPr/>
          <p:nvPr/>
        </p:nvSpPr>
        <p:spPr>
          <a:xfrm>
            <a:off x="9395231" y="3108960"/>
            <a:ext cx="146304" cy="146304"/>
          </a:xfrm>
          <a:prstGeom prst="ellipse">
            <a:avLst/>
          </a:prstGeom>
          <a:solidFill>
            <a:srgbClr val="FFFFFF"/>
          </a:solidFill>
          <a:ln/>
        </p:spPr>
      </p:sp>
      <p:sp>
        <p:nvSpPr>
          <p:cNvPr id="34" name="Shape 32"/>
          <p:cNvSpPr/>
          <p:nvPr/>
        </p:nvSpPr>
        <p:spPr>
          <a:xfrm>
            <a:off x="10218191" y="3108960"/>
            <a:ext cx="146304" cy="146304"/>
          </a:xfrm>
          <a:prstGeom prst="ellipse">
            <a:avLst/>
          </a:prstGeom>
          <a:solidFill>
            <a:srgbClr val="FFFFFF"/>
          </a:solidFill>
          <a:ln/>
        </p:spPr>
      </p:sp>
      <p:sp>
        <p:nvSpPr>
          <p:cNvPr id="35" name="Text 33"/>
          <p:cNvSpPr txBox="1"/>
          <p:nvPr/>
        </p:nvSpPr>
        <p:spPr>
          <a:xfrm>
            <a:off x="9230639" y="3703320"/>
            <a:ext cx="211980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All Possibilities</a:t>
            </a:r>
            <a:endParaRPr lang="en-US" sz="1450" dirty="0"/>
          </a:p>
        </p:txBody>
      </p:sp>
      <p:sp>
        <p:nvSpPr>
          <p:cNvPr id="36" name="Text 34"/>
          <p:cNvSpPr txBox="1"/>
          <p:nvPr/>
        </p:nvSpPr>
        <p:spPr>
          <a:xfrm>
            <a:off x="9230639" y="4206240"/>
            <a:ext cx="2119808" cy="1051560"/>
          </a:xfrm>
          <a:prstGeom prst="rect">
            <a:avLst/>
          </a:prstGeom>
          <a:noFill/>
          <a:ln/>
        </p:spPr>
        <p:txBody>
          <a:bodyPr wrap="square" lIns="0" tIns="0" rIns="0" bIns="0" rtlCol="0" anchor="ctr"/>
          <a:lstStyle/>
          <a:p>
            <a:pPr indent="0" marL="0">
              <a:lnSpc>
                <a:spcPct val="118000"/>
              </a:lnSpc>
              <a:buNone/>
            </a:pPr>
            <a:r>
              <a:rPr lang="en-US" sz="1050" dirty="0">
                <a:solidFill>
                  <a:srgbClr val="17203D"/>
                </a:solidFill>
                <a:latin typeface="Calibri" pitchFamily="34" charset="0"/>
                <a:ea typeface="Calibri" pitchFamily="34" charset="-122"/>
                <a:cs typeface="Calibri" pitchFamily="34" charset="-120"/>
              </a:rPr>
              <a:t>Every candidate project, shown translucently — nothing marked as chosen.</a:t>
            </a:r>
            <a:endParaRPr lang="en-US" sz="1050" dirty="0"/>
          </a:p>
        </p:txBody>
      </p:sp>
      <p:sp>
        <p:nvSpPr>
          <p:cNvPr id="37" name="Text 35"/>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38" name="Text 36"/>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640080" y="749808"/>
            <a:ext cx="10911535" cy="77724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See it live</a:t>
            </a:r>
            <a:endParaRPr lang="en-US" sz="3000" dirty="0"/>
          </a:p>
        </p:txBody>
      </p:sp>
      <p:sp>
        <p:nvSpPr>
          <p:cNvPr id="4" name="Text 2"/>
          <p:cNvSpPr txBox="1"/>
          <p:nvPr/>
        </p:nvSpPr>
        <p:spPr>
          <a:xfrm>
            <a:off x="640080" y="1417320"/>
            <a:ext cx="10911535" cy="365760"/>
          </a:xfrm>
          <a:prstGeom prst="rect">
            <a:avLst/>
          </a:prstGeom>
          <a:noFill/>
          <a:ln/>
        </p:spPr>
        <p:txBody>
          <a:bodyPr wrap="square" lIns="0" tIns="0" rIns="0" bIns="0" rtlCol="0" anchor="ctr"/>
          <a:lstStyle/>
          <a:p>
            <a:pPr indent="0" marL="0">
              <a:buNone/>
            </a:pPr>
            <a:r>
              <a:rPr lang="en-US" sz="1150" i="1" dirty="0">
                <a:solidFill>
                  <a:srgbClr val="B23A3A"/>
                </a:solidFill>
                <a:latin typeface="Calibri" pitchFamily="34" charset="0"/>
                <a:ea typeface="Calibri" pitchFamily="34" charset="-122"/>
                <a:cs typeface="Calibri" pitchFamily="34" charset="-120"/>
              </a:rPr>
              <a:t>[ Presenter note: replace the three panels below with real screenshots of the running app before presenting — Dashboard, Optimizer, Map. ]</a:t>
            </a:r>
            <a:endParaRPr lang="en-US" sz="1150" dirty="0"/>
          </a:p>
        </p:txBody>
      </p:sp>
      <p:sp>
        <p:nvSpPr>
          <p:cNvPr id="5" name="Shape 3"/>
          <p:cNvSpPr/>
          <p:nvPr/>
        </p:nvSpPr>
        <p:spPr>
          <a:xfrm>
            <a:off x="640080" y="1965960"/>
            <a:ext cx="3454298" cy="3566160"/>
          </a:xfrm>
          <a:prstGeom prst="roundRect">
            <a:avLst>
              <a:gd name="adj" fmla="val 2118"/>
            </a:avLst>
          </a:prstGeom>
          <a:solidFill>
            <a:srgbClr val="E4E9F5"/>
          </a:solidFill>
          <a:ln w="12700">
            <a:solidFill>
              <a:srgbClr val="8C9BC2"/>
            </a:solidFill>
            <a:prstDash val="dash"/>
          </a:ln>
        </p:spPr>
      </p:sp>
      <p:sp>
        <p:nvSpPr>
          <p:cNvPr id="6" name="Text 4"/>
          <p:cNvSpPr txBox="1"/>
          <p:nvPr/>
        </p:nvSpPr>
        <p:spPr>
          <a:xfrm>
            <a:off x="640080" y="3429000"/>
            <a:ext cx="3454298" cy="365760"/>
          </a:xfrm>
          <a:prstGeom prst="rect">
            <a:avLst/>
          </a:prstGeom>
          <a:noFill/>
          <a:ln/>
        </p:spPr>
        <p:txBody>
          <a:bodyPr wrap="square" lIns="0" tIns="0" rIns="0" bIns="0" rtlCol="0" anchor="ctr"/>
          <a:lstStyle/>
          <a:p>
            <a:pPr algn="ctr" indent="0" marL="0">
              <a:buNone/>
            </a:pPr>
            <a:r>
              <a:rPr lang="en-US" sz="1200" b="1" dirty="0">
                <a:solidFill>
                  <a:srgbClr val="8C9BC2"/>
                </a:solidFill>
                <a:latin typeface="Calibri" pitchFamily="34" charset="0"/>
                <a:ea typeface="Calibri" pitchFamily="34" charset="-122"/>
                <a:cs typeface="Calibri" pitchFamily="34" charset="-120"/>
              </a:rPr>
              <a:t>SCREENSHOT</a:t>
            </a:r>
            <a:endParaRPr lang="en-US" sz="1200" dirty="0"/>
          </a:p>
        </p:txBody>
      </p:sp>
      <p:sp>
        <p:nvSpPr>
          <p:cNvPr id="7" name="Text 5"/>
          <p:cNvSpPr txBox="1"/>
          <p:nvPr/>
        </p:nvSpPr>
        <p:spPr>
          <a:xfrm>
            <a:off x="868680" y="5074920"/>
            <a:ext cx="2997098"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Compare Cities dashboard</a:t>
            </a:r>
            <a:endParaRPr lang="en-US" sz="1200" dirty="0"/>
          </a:p>
        </p:txBody>
      </p:sp>
      <p:sp>
        <p:nvSpPr>
          <p:cNvPr id="8" name="Shape 6"/>
          <p:cNvSpPr/>
          <p:nvPr/>
        </p:nvSpPr>
        <p:spPr>
          <a:xfrm>
            <a:off x="4368698" y="1965960"/>
            <a:ext cx="3454298" cy="3566160"/>
          </a:xfrm>
          <a:prstGeom prst="roundRect">
            <a:avLst>
              <a:gd name="adj" fmla="val 2118"/>
            </a:avLst>
          </a:prstGeom>
          <a:solidFill>
            <a:srgbClr val="E4E9F5"/>
          </a:solidFill>
          <a:ln w="12700">
            <a:solidFill>
              <a:srgbClr val="8C9BC2"/>
            </a:solidFill>
            <a:prstDash val="dash"/>
          </a:ln>
        </p:spPr>
      </p:sp>
      <p:sp>
        <p:nvSpPr>
          <p:cNvPr id="9" name="Text 7"/>
          <p:cNvSpPr txBox="1"/>
          <p:nvPr/>
        </p:nvSpPr>
        <p:spPr>
          <a:xfrm>
            <a:off x="4368698" y="3429000"/>
            <a:ext cx="3454298" cy="365760"/>
          </a:xfrm>
          <a:prstGeom prst="rect">
            <a:avLst/>
          </a:prstGeom>
          <a:noFill/>
          <a:ln/>
        </p:spPr>
        <p:txBody>
          <a:bodyPr wrap="square" lIns="0" tIns="0" rIns="0" bIns="0" rtlCol="0" anchor="ctr"/>
          <a:lstStyle/>
          <a:p>
            <a:pPr algn="ctr" indent="0" marL="0">
              <a:buNone/>
            </a:pPr>
            <a:r>
              <a:rPr lang="en-US" sz="1200" b="1" dirty="0">
                <a:solidFill>
                  <a:srgbClr val="8C9BC2"/>
                </a:solidFill>
                <a:latin typeface="Calibri" pitchFamily="34" charset="0"/>
                <a:ea typeface="Calibri" pitchFamily="34" charset="-122"/>
                <a:cs typeface="Calibri" pitchFamily="34" charset="-120"/>
              </a:rPr>
              <a:t>SCREENSHOT</a:t>
            </a:r>
            <a:endParaRPr lang="en-US" sz="1200" dirty="0"/>
          </a:p>
        </p:txBody>
      </p:sp>
      <p:sp>
        <p:nvSpPr>
          <p:cNvPr id="10" name="Text 8"/>
          <p:cNvSpPr txBox="1"/>
          <p:nvPr/>
        </p:nvSpPr>
        <p:spPr>
          <a:xfrm>
            <a:off x="4597298" y="5074920"/>
            <a:ext cx="2997098"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Optimizer + sensitivity panel</a:t>
            </a:r>
            <a:endParaRPr lang="en-US" sz="1200" dirty="0"/>
          </a:p>
        </p:txBody>
      </p:sp>
      <p:sp>
        <p:nvSpPr>
          <p:cNvPr id="11" name="Shape 9"/>
          <p:cNvSpPr/>
          <p:nvPr/>
        </p:nvSpPr>
        <p:spPr>
          <a:xfrm>
            <a:off x="8097317" y="1965960"/>
            <a:ext cx="3454298" cy="3566160"/>
          </a:xfrm>
          <a:prstGeom prst="roundRect">
            <a:avLst>
              <a:gd name="adj" fmla="val 2118"/>
            </a:avLst>
          </a:prstGeom>
          <a:solidFill>
            <a:srgbClr val="E4E9F5"/>
          </a:solidFill>
          <a:ln w="12700">
            <a:solidFill>
              <a:srgbClr val="8C9BC2"/>
            </a:solidFill>
            <a:prstDash val="dash"/>
          </a:ln>
        </p:spPr>
      </p:sp>
      <p:sp>
        <p:nvSpPr>
          <p:cNvPr id="12" name="Text 10"/>
          <p:cNvSpPr txBox="1"/>
          <p:nvPr/>
        </p:nvSpPr>
        <p:spPr>
          <a:xfrm>
            <a:off x="8097317" y="3429000"/>
            <a:ext cx="3454298" cy="365760"/>
          </a:xfrm>
          <a:prstGeom prst="rect">
            <a:avLst/>
          </a:prstGeom>
          <a:noFill/>
          <a:ln/>
        </p:spPr>
        <p:txBody>
          <a:bodyPr wrap="square" lIns="0" tIns="0" rIns="0" bIns="0" rtlCol="0" anchor="ctr"/>
          <a:lstStyle/>
          <a:p>
            <a:pPr algn="ctr" indent="0" marL="0">
              <a:buNone/>
            </a:pPr>
            <a:r>
              <a:rPr lang="en-US" sz="1200" b="1" dirty="0">
                <a:solidFill>
                  <a:srgbClr val="8C9BC2"/>
                </a:solidFill>
                <a:latin typeface="Calibri" pitchFamily="34" charset="0"/>
                <a:ea typeface="Calibri" pitchFamily="34" charset="-122"/>
                <a:cs typeface="Calibri" pitchFamily="34" charset="-120"/>
              </a:rPr>
              <a:t>SCREENSHOT</a:t>
            </a:r>
            <a:endParaRPr lang="en-US" sz="1200" dirty="0"/>
          </a:p>
        </p:txBody>
      </p:sp>
      <p:sp>
        <p:nvSpPr>
          <p:cNvPr id="13" name="Text 11"/>
          <p:cNvSpPr txBox="1"/>
          <p:nvPr/>
        </p:nvSpPr>
        <p:spPr>
          <a:xfrm>
            <a:off x="8325917" y="5074920"/>
            <a:ext cx="2997098"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Legacy map — four modes</a:t>
            </a:r>
            <a:endParaRPr lang="en-US" sz="1200" dirty="0"/>
          </a:p>
        </p:txBody>
      </p:sp>
      <p:sp>
        <p:nvSpPr>
          <p:cNvPr id="14" name="Text 12"/>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15" name="Text 13"/>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BUILT FOR TRUST</a:t>
            </a:r>
            <a:endParaRPr lang="en-US" sz="1200" dirty="0"/>
          </a:p>
        </p:txBody>
      </p:sp>
      <p:sp>
        <p:nvSpPr>
          <p:cNvPr id="3" name="Text 1"/>
          <p:cNvSpPr txBox="1"/>
          <p:nvPr/>
        </p:nvSpPr>
        <p:spPr>
          <a:xfrm>
            <a:off x="640080" y="749808"/>
            <a:ext cx="10911535" cy="7772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Verified at every phase, not just at the end</a:t>
            </a:r>
            <a:endParaRPr lang="en-US" sz="2700" dirty="0"/>
          </a:p>
        </p:txBody>
      </p:sp>
      <p:sp>
        <p:nvSpPr>
          <p:cNvPr id="4" name="Shape 2"/>
          <p:cNvSpPr/>
          <p:nvPr/>
        </p:nvSpPr>
        <p:spPr>
          <a:xfrm>
            <a:off x="640080" y="2103120"/>
            <a:ext cx="2522144" cy="1554480"/>
          </a:xfrm>
          <a:prstGeom prst="roundRect">
            <a:avLst>
              <a:gd name="adj" fmla="val 4706"/>
            </a:avLst>
          </a:prstGeom>
          <a:solidFill>
            <a:srgbClr val="EEF3FD"/>
          </a:solidFill>
          <a:ln/>
        </p:spPr>
      </p:sp>
      <p:sp>
        <p:nvSpPr>
          <p:cNvPr id="5" name="Text 3"/>
          <p:cNvSpPr txBox="1"/>
          <p:nvPr/>
        </p:nvSpPr>
        <p:spPr>
          <a:xfrm>
            <a:off x="804672" y="2231136"/>
            <a:ext cx="2192960" cy="854964"/>
          </a:xfrm>
          <a:prstGeom prst="rect">
            <a:avLst/>
          </a:prstGeom>
          <a:noFill/>
          <a:ln/>
        </p:spPr>
        <p:txBody>
          <a:bodyPr wrap="square" lIns="0" tIns="0" rIns="0" bIns="0" rtlCol="0" anchor="b"/>
          <a:lstStyle/>
          <a:p>
            <a:pPr indent="0" marL="0">
              <a:buNone/>
            </a:pPr>
            <a:r>
              <a:rPr lang="en-US" sz="2400" b="1" dirty="0">
                <a:solidFill>
                  <a:srgbClr val="1E2761"/>
                </a:solidFill>
                <a:latin typeface="Cambria" pitchFamily="34" charset="0"/>
                <a:ea typeface="Cambria" pitchFamily="34" charset="-122"/>
                <a:cs typeface="Cambria" pitchFamily="34" charset="-120"/>
              </a:rPr>
              <a:t>199</a:t>
            </a:r>
            <a:endParaRPr lang="en-US" sz="2400" dirty="0"/>
          </a:p>
        </p:txBody>
      </p:sp>
      <p:sp>
        <p:nvSpPr>
          <p:cNvPr id="6" name="Text 4"/>
          <p:cNvSpPr txBox="1"/>
          <p:nvPr/>
        </p:nvSpPr>
        <p:spPr>
          <a:xfrm>
            <a:off x="804672" y="3004718"/>
            <a:ext cx="2192960" cy="621792"/>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automated tests passing (142 backend + 57 frontend)</a:t>
            </a:r>
            <a:endParaRPr lang="en-US" sz="1050" dirty="0"/>
          </a:p>
        </p:txBody>
      </p:sp>
      <p:sp>
        <p:nvSpPr>
          <p:cNvPr id="7" name="Shape 5"/>
          <p:cNvSpPr/>
          <p:nvPr/>
        </p:nvSpPr>
        <p:spPr>
          <a:xfrm>
            <a:off x="3436544" y="2103120"/>
            <a:ext cx="2522144" cy="1554480"/>
          </a:xfrm>
          <a:prstGeom prst="roundRect">
            <a:avLst>
              <a:gd name="adj" fmla="val 4706"/>
            </a:avLst>
          </a:prstGeom>
          <a:solidFill>
            <a:srgbClr val="EEF3FD"/>
          </a:solidFill>
          <a:ln/>
        </p:spPr>
      </p:sp>
      <p:sp>
        <p:nvSpPr>
          <p:cNvPr id="8" name="Text 6"/>
          <p:cNvSpPr txBox="1"/>
          <p:nvPr/>
        </p:nvSpPr>
        <p:spPr>
          <a:xfrm>
            <a:off x="3601136" y="2231136"/>
            <a:ext cx="2192960" cy="854964"/>
          </a:xfrm>
          <a:prstGeom prst="rect">
            <a:avLst/>
          </a:prstGeom>
          <a:noFill/>
          <a:ln/>
        </p:spPr>
        <p:txBody>
          <a:bodyPr wrap="square" lIns="0" tIns="0" rIns="0" bIns="0" rtlCol="0" anchor="b"/>
          <a:lstStyle/>
          <a:p>
            <a:pPr indent="0" marL="0">
              <a:buNone/>
            </a:pPr>
            <a:r>
              <a:rPr lang="en-US" sz="2400" b="1" dirty="0">
                <a:solidFill>
                  <a:srgbClr val="1E2761"/>
                </a:solidFill>
                <a:latin typeface="Cambria" pitchFamily="34" charset="0"/>
                <a:ea typeface="Cambria" pitchFamily="34" charset="-122"/>
                <a:cs typeface="Cambria" pitchFamily="34" charset="-120"/>
              </a:rPr>
              <a:t>27 / 27</a:t>
            </a:r>
            <a:endParaRPr lang="en-US" sz="2400" dirty="0"/>
          </a:p>
        </p:txBody>
      </p:sp>
      <p:sp>
        <p:nvSpPr>
          <p:cNvPr id="9" name="Text 7"/>
          <p:cNvSpPr txBox="1"/>
          <p:nvPr/>
        </p:nvSpPr>
        <p:spPr>
          <a:xfrm>
            <a:off x="3601136" y="3004718"/>
            <a:ext cx="2192960" cy="621792"/>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bundle integrity checks — every phase, unchanged</a:t>
            </a:r>
            <a:endParaRPr lang="en-US" sz="1050" dirty="0"/>
          </a:p>
        </p:txBody>
      </p:sp>
      <p:sp>
        <p:nvSpPr>
          <p:cNvPr id="10" name="Shape 8"/>
          <p:cNvSpPr/>
          <p:nvPr/>
        </p:nvSpPr>
        <p:spPr>
          <a:xfrm>
            <a:off x="6233008" y="2103120"/>
            <a:ext cx="2522144" cy="1554480"/>
          </a:xfrm>
          <a:prstGeom prst="roundRect">
            <a:avLst>
              <a:gd name="adj" fmla="val 4706"/>
            </a:avLst>
          </a:prstGeom>
          <a:solidFill>
            <a:srgbClr val="EEF3FD"/>
          </a:solidFill>
          <a:ln/>
        </p:spPr>
      </p:sp>
      <p:sp>
        <p:nvSpPr>
          <p:cNvPr id="11" name="Text 9"/>
          <p:cNvSpPr txBox="1"/>
          <p:nvPr/>
        </p:nvSpPr>
        <p:spPr>
          <a:xfrm>
            <a:off x="6397600" y="2231136"/>
            <a:ext cx="2192960" cy="854964"/>
          </a:xfrm>
          <a:prstGeom prst="rect">
            <a:avLst/>
          </a:prstGeom>
          <a:noFill/>
          <a:ln/>
        </p:spPr>
        <p:txBody>
          <a:bodyPr wrap="square" lIns="0" tIns="0" rIns="0" bIns="0" rtlCol="0" anchor="b"/>
          <a:lstStyle/>
          <a:p>
            <a:pPr indent="0" marL="0">
              <a:buNone/>
            </a:pPr>
            <a:r>
              <a:rPr lang="en-US" sz="2400" b="1" dirty="0">
                <a:solidFill>
                  <a:srgbClr val="1E2761"/>
                </a:solidFill>
                <a:latin typeface="Cambria" pitchFamily="34" charset="0"/>
                <a:ea typeface="Cambria" pitchFamily="34" charset="-122"/>
                <a:cs typeface="Cambria" pitchFamily="34" charset="-120"/>
              </a:rPr>
              <a:t>11 / 11</a:t>
            </a:r>
            <a:endParaRPr lang="en-US" sz="2400" dirty="0"/>
          </a:p>
        </p:txBody>
      </p:sp>
      <p:sp>
        <p:nvSpPr>
          <p:cNvPr id="12" name="Text 10"/>
          <p:cNvSpPr txBox="1"/>
          <p:nvPr/>
        </p:nvSpPr>
        <p:spPr>
          <a:xfrm>
            <a:off x="6397600" y="3004718"/>
            <a:ext cx="2192960" cy="621792"/>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host-region budgets reconciled to the cent</a:t>
            </a:r>
            <a:endParaRPr lang="en-US" sz="1050" dirty="0"/>
          </a:p>
        </p:txBody>
      </p:sp>
      <p:sp>
        <p:nvSpPr>
          <p:cNvPr id="13" name="Shape 11"/>
          <p:cNvSpPr/>
          <p:nvPr/>
        </p:nvSpPr>
        <p:spPr>
          <a:xfrm>
            <a:off x="9029471" y="2103120"/>
            <a:ext cx="2522144" cy="1554480"/>
          </a:xfrm>
          <a:prstGeom prst="roundRect">
            <a:avLst>
              <a:gd name="adj" fmla="val 4706"/>
            </a:avLst>
          </a:prstGeom>
          <a:solidFill>
            <a:srgbClr val="EEF3FD"/>
          </a:solidFill>
          <a:ln/>
        </p:spPr>
      </p:sp>
      <p:sp>
        <p:nvSpPr>
          <p:cNvPr id="14" name="Text 12"/>
          <p:cNvSpPr txBox="1"/>
          <p:nvPr/>
        </p:nvSpPr>
        <p:spPr>
          <a:xfrm>
            <a:off x="9194063" y="2231136"/>
            <a:ext cx="2192960" cy="854964"/>
          </a:xfrm>
          <a:prstGeom prst="rect">
            <a:avLst/>
          </a:prstGeom>
          <a:noFill/>
          <a:ln/>
        </p:spPr>
        <p:txBody>
          <a:bodyPr wrap="square" lIns="0" tIns="0" rIns="0" bIns="0" rtlCol="0" anchor="b"/>
          <a:lstStyle/>
          <a:p>
            <a:pPr indent="0" marL="0">
              <a:buNone/>
            </a:pPr>
            <a:r>
              <a:rPr lang="en-US" sz="2400" b="1" dirty="0">
                <a:solidFill>
                  <a:srgbClr val="1E2761"/>
                </a:solidFill>
                <a:latin typeface="Cambria" pitchFamily="34" charset="0"/>
                <a:ea typeface="Cambria" pitchFamily="34" charset="-122"/>
                <a:cs typeface="Cambria" pitchFamily="34" charset="-120"/>
              </a:rPr>
              <a:t>0</a:t>
            </a:r>
            <a:endParaRPr lang="en-US" sz="2400" dirty="0"/>
          </a:p>
        </p:txBody>
      </p:sp>
      <p:sp>
        <p:nvSpPr>
          <p:cNvPr id="15" name="Text 13"/>
          <p:cNvSpPr txBox="1"/>
          <p:nvPr/>
        </p:nvSpPr>
        <p:spPr>
          <a:xfrm>
            <a:off x="9194063" y="3004718"/>
            <a:ext cx="2192960" cy="621792"/>
          </a:xfrm>
          <a:prstGeom prst="rect">
            <a:avLst/>
          </a:prstGeom>
          <a:noFill/>
          <a:ln/>
        </p:spPr>
        <p:txBody>
          <a:bodyPr wrap="square" lIns="0" tIns="0" rIns="0" bIns="0" rtlCol="0" anchor="t"/>
          <a:lstStyle/>
          <a:p>
            <a:pPr indent="0" marL="0">
              <a:lnSpc>
                <a:spcPct val="105000"/>
              </a:lnSpc>
              <a:buNone/>
            </a:pPr>
            <a:r>
              <a:rPr lang="en-US" sz="1050" dirty="0">
                <a:solidFill>
                  <a:srgbClr val="5A6B8C"/>
                </a:solidFill>
                <a:latin typeface="Calibri" pitchFamily="34" charset="0"/>
                <a:ea typeface="Calibri" pitchFamily="34" charset="-122"/>
                <a:cs typeface="Calibri" pitchFamily="34" charset="-120"/>
              </a:rPr>
              <a:t>engineering assumptions presented as observed fact</a:t>
            </a:r>
            <a:endParaRPr lang="en-US" sz="1050" dirty="0"/>
          </a:p>
        </p:txBody>
      </p:sp>
      <p:sp>
        <p:nvSpPr>
          <p:cNvPr id="16" name="Text 14"/>
          <p:cNvSpPr txBox="1"/>
          <p:nvPr/>
        </p:nvSpPr>
        <p:spPr>
          <a:xfrm>
            <a:off x="640080" y="4023360"/>
            <a:ext cx="10911535" cy="1463040"/>
          </a:xfrm>
          <a:prstGeom prst="rect">
            <a:avLst/>
          </a:prstGeom>
          <a:noFill/>
          <a:ln/>
        </p:spPr>
        <p:txBody>
          <a:bodyPr wrap="square" lIns="0" tIns="0" rIns="0" bIns="0" rtlCol="0" anchor="ctr"/>
          <a:lstStyle/>
          <a:p>
            <a:pPr indent="0" marL="0">
              <a:lnSpc>
                <a:spcPct val="130000"/>
              </a:lnSpc>
              <a:buNone/>
            </a:pPr>
            <a:r>
              <a:rPr lang="en-US" sz="1400" dirty="0">
                <a:solidFill>
                  <a:srgbClr val="17203D"/>
                </a:solidFill>
                <a:latin typeface="Calibri" pitchFamily="34" charset="0"/>
                <a:ea typeface="Calibri" pitchFamily="34" charset="-122"/>
                <a:cs typeface="Calibri" pitchFamily="34" charset="-120"/>
              </a:rPr>
              <a:t>The reference dataset was independently re-validated before a line of application code was written, and re-checked after every phase. The optimizer was proven to reproduce known reference results before it was ever exposed to a live request. The map was proven, with a test written before the UI existed, to never render an unselected project as selected.</a:t>
            </a:r>
            <a:endParaRPr lang="en-US" sz="1400" dirty="0"/>
          </a:p>
        </p:txBody>
      </p:sp>
      <p:sp>
        <p:nvSpPr>
          <p:cNvPr id="17" name="Text 15"/>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18" name="Text 16"/>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WHY IT SCORES</a:t>
            </a:r>
            <a:endParaRPr lang="en-US" sz="1200" dirty="0"/>
          </a:p>
        </p:txBody>
      </p:sp>
      <p:sp>
        <p:nvSpPr>
          <p:cNvPr id="3" name="Text 1"/>
          <p:cNvSpPr txBox="1"/>
          <p:nvPr/>
        </p:nvSpPr>
        <p:spPr>
          <a:xfrm>
            <a:off x="640080" y="749808"/>
            <a:ext cx="10911535" cy="77724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Built against the judging criteria, on purpose</a:t>
            </a:r>
            <a:endParaRPr lang="en-US" sz="2700" dirty="0"/>
          </a:p>
        </p:txBody>
      </p:sp>
      <p:sp>
        <p:nvSpPr>
          <p:cNvPr id="4" name="Shape 2"/>
          <p:cNvSpPr/>
          <p:nvPr/>
        </p:nvSpPr>
        <p:spPr>
          <a:xfrm>
            <a:off x="640080" y="1965960"/>
            <a:ext cx="10911535" cy="603504"/>
          </a:xfrm>
          <a:prstGeom prst="roundRect">
            <a:avLst>
              <a:gd name="adj" fmla="val 6061"/>
            </a:avLst>
          </a:prstGeom>
          <a:solidFill>
            <a:srgbClr val="EEF3FD"/>
          </a:solidFill>
          <a:ln/>
        </p:spPr>
      </p:sp>
      <p:sp>
        <p:nvSpPr>
          <p:cNvPr id="5" name="Text 3"/>
          <p:cNvSpPr txBox="1"/>
          <p:nvPr/>
        </p:nvSpPr>
        <p:spPr>
          <a:xfrm>
            <a:off x="868680" y="1965960"/>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Analytics</a:t>
            </a:r>
            <a:endParaRPr lang="en-US" sz="1250" dirty="0"/>
          </a:p>
        </p:txBody>
      </p:sp>
      <p:sp>
        <p:nvSpPr>
          <p:cNvPr id="6" name="Text 4"/>
          <p:cNvSpPr txBox="1"/>
          <p:nvPr/>
        </p:nvSpPr>
        <p:spPr>
          <a:xfrm>
            <a:off x="3749040" y="1965960"/>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264 tracked projects, 143 funding rows, 768 ML scenarios — every figure sourced or disclosed.</a:t>
            </a:r>
            <a:endParaRPr lang="en-US" sz="1150" dirty="0"/>
          </a:p>
        </p:txBody>
      </p:sp>
      <p:sp>
        <p:nvSpPr>
          <p:cNvPr id="7" name="Text 5"/>
          <p:cNvSpPr txBox="1"/>
          <p:nvPr/>
        </p:nvSpPr>
        <p:spPr>
          <a:xfrm>
            <a:off x="868680" y="2569464"/>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Impact</a:t>
            </a:r>
            <a:endParaRPr lang="en-US" sz="1250" dirty="0"/>
          </a:p>
        </p:txBody>
      </p:sp>
      <p:sp>
        <p:nvSpPr>
          <p:cNvPr id="8" name="Text 6"/>
          <p:cNvSpPr txBox="1"/>
          <p:nvPr/>
        </p:nvSpPr>
        <p:spPr>
          <a:xfrm>
            <a:off x="3749040" y="2569464"/>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Directly ties investment dollars to measured ridership and pedestrian demand.</a:t>
            </a:r>
            <a:endParaRPr lang="en-US" sz="1150" dirty="0"/>
          </a:p>
        </p:txBody>
      </p:sp>
      <p:sp>
        <p:nvSpPr>
          <p:cNvPr id="9" name="Shape 7"/>
          <p:cNvSpPr/>
          <p:nvPr/>
        </p:nvSpPr>
        <p:spPr>
          <a:xfrm>
            <a:off x="640080" y="3172968"/>
            <a:ext cx="10911535" cy="603504"/>
          </a:xfrm>
          <a:prstGeom prst="roundRect">
            <a:avLst>
              <a:gd name="adj" fmla="val 6061"/>
            </a:avLst>
          </a:prstGeom>
          <a:solidFill>
            <a:srgbClr val="EEF3FD"/>
          </a:solidFill>
          <a:ln/>
        </p:spPr>
      </p:sp>
      <p:sp>
        <p:nvSpPr>
          <p:cNvPr id="10" name="Text 8"/>
          <p:cNvSpPr txBox="1"/>
          <p:nvPr/>
        </p:nvSpPr>
        <p:spPr>
          <a:xfrm>
            <a:off x="868680" y="3172968"/>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Innovation</a:t>
            </a:r>
            <a:endParaRPr lang="en-US" sz="1250" dirty="0"/>
          </a:p>
        </p:txBody>
      </p:sp>
      <p:sp>
        <p:nvSpPr>
          <p:cNvPr id="11" name="Text 9"/>
          <p:cNvSpPr txBox="1"/>
          <p:nvPr/>
        </p:nvSpPr>
        <p:spPr>
          <a:xfrm>
            <a:off x="3749040" y="3172968"/>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First tool to unify evidence, optimization, and legacy visualization in one decision loop.</a:t>
            </a:r>
            <a:endParaRPr lang="en-US" sz="1150" dirty="0"/>
          </a:p>
        </p:txBody>
      </p:sp>
      <p:sp>
        <p:nvSpPr>
          <p:cNvPr id="12" name="Text 10"/>
          <p:cNvSpPr txBox="1"/>
          <p:nvPr/>
        </p:nvSpPr>
        <p:spPr>
          <a:xfrm>
            <a:off x="868680" y="3776472"/>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Feasibility / Implementation</a:t>
            </a:r>
            <a:endParaRPr lang="en-US" sz="1250" dirty="0"/>
          </a:p>
        </p:txBody>
      </p:sp>
      <p:sp>
        <p:nvSpPr>
          <p:cNvPr id="13" name="Text 11"/>
          <p:cNvSpPr txBox="1"/>
          <p:nvPr/>
        </p:nvSpPr>
        <p:spPr>
          <a:xfrm>
            <a:off x="3749040" y="3776472"/>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199 automated tests; a real, working, end-to-end application — not a mockup.</a:t>
            </a:r>
            <a:endParaRPr lang="en-US" sz="1150" dirty="0"/>
          </a:p>
        </p:txBody>
      </p:sp>
      <p:sp>
        <p:nvSpPr>
          <p:cNvPr id="14" name="Shape 12"/>
          <p:cNvSpPr/>
          <p:nvPr/>
        </p:nvSpPr>
        <p:spPr>
          <a:xfrm>
            <a:off x="640080" y="4379976"/>
            <a:ext cx="10911535" cy="603504"/>
          </a:xfrm>
          <a:prstGeom prst="roundRect">
            <a:avLst>
              <a:gd name="adj" fmla="val 6061"/>
            </a:avLst>
          </a:prstGeom>
          <a:solidFill>
            <a:srgbClr val="EEF3FD"/>
          </a:solidFill>
          <a:ln/>
        </p:spPr>
      </p:sp>
      <p:sp>
        <p:nvSpPr>
          <p:cNvPr id="15" name="Text 13"/>
          <p:cNvSpPr txBox="1"/>
          <p:nvPr/>
        </p:nvSpPr>
        <p:spPr>
          <a:xfrm>
            <a:off x="868680" y="4379976"/>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Legacy</a:t>
            </a:r>
            <a:endParaRPr lang="en-US" sz="1250" dirty="0"/>
          </a:p>
        </p:txBody>
      </p:sp>
      <p:sp>
        <p:nvSpPr>
          <p:cNvPr id="16" name="Text 14"/>
          <p:cNvSpPr txBox="1"/>
          <p:nvPr/>
        </p:nvSpPr>
        <p:spPr>
          <a:xfrm>
            <a:off x="3749040" y="4379976"/>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Purpose-built to answer "what should this city keep after the tournament leaves."</a:t>
            </a:r>
            <a:endParaRPr lang="en-US" sz="1150" dirty="0"/>
          </a:p>
        </p:txBody>
      </p:sp>
      <p:sp>
        <p:nvSpPr>
          <p:cNvPr id="17" name="Text 15"/>
          <p:cNvSpPr txBox="1"/>
          <p:nvPr/>
        </p:nvSpPr>
        <p:spPr>
          <a:xfrm>
            <a:off x="868680" y="4983480"/>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Visualization</a:t>
            </a:r>
            <a:endParaRPr lang="en-US" sz="1250" dirty="0"/>
          </a:p>
        </p:txBody>
      </p:sp>
      <p:sp>
        <p:nvSpPr>
          <p:cNvPr id="18" name="Text 16"/>
          <p:cNvSpPr txBox="1"/>
          <p:nvPr/>
        </p:nvSpPr>
        <p:spPr>
          <a:xfrm>
            <a:off x="3749040" y="4983480"/>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A map that only ever shows what was actually decided — four honest modes, no invented state.</a:t>
            </a:r>
            <a:endParaRPr lang="en-US" sz="1150" dirty="0"/>
          </a:p>
        </p:txBody>
      </p:sp>
      <p:sp>
        <p:nvSpPr>
          <p:cNvPr id="19" name="Shape 17"/>
          <p:cNvSpPr/>
          <p:nvPr/>
        </p:nvSpPr>
        <p:spPr>
          <a:xfrm>
            <a:off x="640080" y="5586984"/>
            <a:ext cx="10911535" cy="603504"/>
          </a:xfrm>
          <a:prstGeom prst="roundRect">
            <a:avLst>
              <a:gd name="adj" fmla="val 6061"/>
            </a:avLst>
          </a:prstGeom>
          <a:solidFill>
            <a:srgbClr val="EEF3FD"/>
          </a:solidFill>
          <a:ln/>
        </p:spPr>
      </p:sp>
      <p:sp>
        <p:nvSpPr>
          <p:cNvPr id="20" name="Text 18"/>
          <p:cNvSpPr txBox="1"/>
          <p:nvPr/>
        </p:nvSpPr>
        <p:spPr>
          <a:xfrm>
            <a:off x="868680" y="5586984"/>
            <a:ext cx="274320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Presentation / Pitch</a:t>
            </a:r>
            <a:endParaRPr lang="en-US" sz="1250" dirty="0"/>
          </a:p>
        </p:txBody>
      </p:sp>
      <p:sp>
        <p:nvSpPr>
          <p:cNvPr id="21" name="Text 19"/>
          <p:cNvSpPr txBox="1"/>
          <p:nvPr/>
        </p:nvSpPr>
        <p:spPr>
          <a:xfrm>
            <a:off x="3749040" y="5586984"/>
            <a:ext cx="7573975" cy="603504"/>
          </a:xfrm>
          <a:prstGeom prst="rect">
            <a:avLst/>
          </a:prstGeom>
          <a:noFill/>
          <a:ln/>
        </p:spPr>
        <p:txBody>
          <a:bodyPr wrap="square" lIns="0" tIns="0" rIns="0" bIns="0" rtlCol="0" anchor="ctr"/>
          <a:lstStyle/>
          <a:p>
            <a:pPr indent="0" marL="0">
              <a:lnSpc>
                <a:spcPct val="105000"/>
              </a:lnSpc>
              <a:buNone/>
            </a:pPr>
            <a:r>
              <a:rPr lang="en-US" sz="1150" dirty="0">
                <a:solidFill>
                  <a:srgbClr val="17203D"/>
                </a:solidFill>
                <a:latin typeface="Calibri" pitchFamily="34" charset="0"/>
                <a:ea typeface="Calibri" pitchFamily="34" charset="-122"/>
                <a:cs typeface="Calibri" pitchFamily="34" charset="-120"/>
              </a:rPr>
              <a:t>Every claim in this deck is backed by a number the app itself can reproduce live.</a:t>
            </a:r>
            <a:endParaRPr lang="en-US" sz="1150" dirty="0"/>
          </a:p>
        </p:txBody>
      </p:sp>
      <p:sp>
        <p:nvSpPr>
          <p:cNvPr id="22" name="Text 20"/>
          <p:cNvSpPr txBox="1"/>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C9BC2"/>
                </a:solidFill>
                <a:latin typeface="Calibri" pitchFamily="34" charset="0"/>
                <a:ea typeface="Calibri" pitchFamily="34" charset="-122"/>
                <a:cs typeface="Calibri" pitchFamily="34" charset="-120"/>
              </a:rPr>
              <a:t>World Cup 2026 Host-City Mobility Optimizer</a:t>
            </a:r>
            <a:endParaRPr lang="en-US" sz="1000" dirty="0"/>
          </a:p>
        </p:txBody>
      </p:sp>
      <p:sp>
        <p:nvSpPr>
          <p:cNvPr id="23" name="Text 21"/>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200" b="1" spc="200" kern="0" dirty="0">
                <a:solidFill>
                  <a:srgbClr val="00C875"/>
                </a:solidFill>
                <a:latin typeface="Calibri" pitchFamily="34" charset="0"/>
                <a:ea typeface="Calibri" pitchFamily="34" charset="-122"/>
                <a:cs typeface="Calibri" pitchFamily="34" charset="-120"/>
              </a:rPr>
              <a:t>BEYOND THIS HACKATHON</a:t>
            </a:r>
            <a:endParaRPr lang="en-US" sz="1200" dirty="0"/>
          </a:p>
        </p:txBody>
      </p:sp>
      <p:sp>
        <p:nvSpPr>
          <p:cNvPr id="3" name="Text 1"/>
          <p:cNvSpPr txBox="1"/>
          <p:nvPr/>
        </p:nvSpPr>
        <p:spPr>
          <a:xfrm>
            <a:off x="640080" y="749808"/>
            <a:ext cx="10911535" cy="822960"/>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This decision doesn't end with the final whistle</a:t>
            </a:r>
            <a:endParaRPr lang="en-US" sz="2700" dirty="0"/>
          </a:p>
        </p:txBody>
      </p:sp>
      <p:sp>
        <p:nvSpPr>
          <p:cNvPr id="4" name="Text 2"/>
          <p:cNvSpPr txBox="1"/>
          <p:nvPr/>
        </p:nvSpPr>
        <p:spPr>
          <a:xfrm>
            <a:off x="640080" y="1874520"/>
            <a:ext cx="5760720" cy="1737360"/>
          </a:xfrm>
          <a:prstGeom prst="rect">
            <a:avLst/>
          </a:prstGeom>
          <a:noFill/>
          <a:ln/>
        </p:spPr>
        <p:txBody>
          <a:bodyPr wrap="square" lIns="0" tIns="0" rIns="0" bIns="0" rtlCol="0" anchor="ctr"/>
          <a:lstStyle/>
          <a:p>
            <a:pPr indent="0" marL="0">
              <a:lnSpc>
                <a:spcPct val="130000"/>
              </a:lnSpc>
              <a:buNone/>
            </a:pPr>
            <a:r>
              <a:rPr lang="en-US" sz="1450" dirty="0">
                <a:solidFill>
                  <a:srgbClr val="CADCFC"/>
                </a:solidFill>
                <a:latin typeface="Calibri" pitchFamily="34" charset="0"/>
                <a:ea typeface="Calibri" pitchFamily="34" charset="-122"/>
                <a:cs typeface="Calibri" pitchFamily="34" charset="-120"/>
              </a:rPr>
              <a:t>The Meadowlands case study is one region out of eleven the dataset already covers. The same evidence chain, the same optimizer, and the same legacy map apply to every other 2026 host city — and to the next major event any of them plans for after the tournament ends.</a:t>
            </a:r>
            <a:endParaRPr lang="en-US" sz="1450" dirty="0"/>
          </a:p>
        </p:txBody>
      </p:sp>
      <p:sp>
        <p:nvSpPr>
          <p:cNvPr id="5" name="Shape 3"/>
          <p:cNvSpPr/>
          <p:nvPr/>
        </p:nvSpPr>
        <p:spPr>
          <a:xfrm>
            <a:off x="640080" y="3849624"/>
            <a:ext cx="128016" cy="128016"/>
          </a:xfrm>
          <a:prstGeom prst="ellipse">
            <a:avLst/>
          </a:prstGeom>
          <a:solidFill>
            <a:srgbClr val="00C875"/>
          </a:solidFill>
          <a:ln/>
        </p:spPr>
      </p:sp>
      <p:sp>
        <p:nvSpPr>
          <p:cNvPr id="6" name="Text 4"/>
          <p:cNvSpPr txBox="1"/>
          <p:nvPr/>
        </p:nvSpPr>
        <p:spPr>
          <a:xfrm>
            <a:off x="932688" y="3721608"/>
            <a:ext cx="5486400" cy="45720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Extend the optimizer's live comparison view across all 11 host regions in one pass</a:t>
            </a:r>
            <a:endParaRPr lang="en-US" sz="1250" dirty="0"/>
          </a:p>
        </p:txBody>
      </p:sp>
      <p:sp>
        <p:nvSpPr>
          <p:cNvPr id="7" name="Shape 5"/>
          <p:cNvSpPr/>
          <p:nvPr/>
        </p:nvSpPr>
        <p:spPr>
          <a:xfrm>
            <a:off x="640080" y="4416552"/>
            <a:ext cx="128016" cy="128016"/>
          </a:xfrm>
          <a:prstGeom prst="ellipse">
            <a:avLst/>
          </a:prstGeom>
          <a:solidFill>
            <a:srgbClr val="00C875"/>
          </a:solidFill>
          <a:ln/>
        </p:spPr>
      </p:sp>
      <p:sp>
        <p:nvSpPr>
          <p:cNvPr id="8" name="Text 6"/>
          <p:cNvSpPr txBox="1"/>
          <p:nvPr/>
        </p:nvSpPr>
        <p:spPr>
          <a:xfrm>
            <a:off x="932688" y="4288536"/>
            <a:ext cx="5486400" cy="45720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Swap the in-memory data layer for PostgreSQL/PostGIS as usage grows</a:t>
            </a:r>
            <a:endParaRPr lang="en-US" sz="1250" dirty="0"/>
          </a:p>
        </p:txBody>
      </p:sp>
      <p:sp>
        <p:nvSpPr>
          <p:cNvPr id="9" name="Shape 7"/>
          <p:cNvSpPr/>
          <p:nvPr/>
        </p:nvSpPr>
        <p:spPr>
          <a:xfrm>
            <a:off x="640080" y="4983480"/>
            <a:ext cx="128016" cy="128016"/>
          </a:xfrm>
          <a:prstGeom prst="ellipse">
            <a:avLst/>
          </a:prstGeom>
          <a:solidFill>
            <a:srgbClr val="00C875"/>
          </a:solidFill>
          <a:ln/>
        </p:spPr>
      </p:sp>
      <p:sp>
        <p:nvSpPr>
          <p:cNvPr id="10" name="Text 8"/>
          <p:cNvSpPr txBox="1"/>
          <p:nvPr/>
        </p:nvSpPr>
        <p:spPr>
          <a:xfrm>
            <a:off x="932688" y="4855464"/>
            <a:ext cx="5486400" cy="45720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Add a procedural 3D hub visualization for the highest-impact permanent projects</a:t>
            </a:r>
            <a:endParaRPr lang="en-US" sz="1250" dirty="0"/>
          </a:p>
        </p:txBody>
      </p:sp>
      <p:sp>
        <p:nvSpPr>
          <p:cNvPr id="11" name="Shape 9"/>
          <p:cNvSpPr/>
          <p:nvPr/>
        </p:nvSpPr>
        <p:spPr>
          <a:xfrm>
            <a:off x="6949440" y="1874520"/>
            <a:ext cx="4602175" cy="3794760"/>
          </a:xfrm>
          <a:prstGeom prst="roundRect">
            <a:avLst>
              <a:gd name="adj" fmla="val 2410"/>
            </a:avLst>
          </a:prstGeom>
          <a:solidFill>
            <a:srgbClr val="141A45"/>
          </a:solidFill>
          <a:ln/>
        </p:spPr>
      </p:sp>
      <p:sp>
        <p:nvSpPr>
          <p:cNvPr id="12" name="Text 10"/>
          <p:cNvSpPr txBox="1"/>
          <p:nvPr/>
        </p:nvSpPr>
        <p:spPr>
          <a:xfrm>
            <a:off x="7269480" y="2148840"/>
            <a:ext cx="3962095" cy="365760"/>
          </a:xfrm>
          <a:prstGeom prst="rect">
            <a:avLst/>
          </a:prstGeom>
          <a:noFill/>
          <a:ln/>
        </p:spPr>
        <p:txBody>
          <a:bodyPr wrap="square" lIns="0" tIns="0" rIns="0" bIns="0" rtlCol="0" anchor="ctr"/>
          <a:lstStyle/>
          <a:p>
            <a:pPr indent="0" marL="0">
              <a:buNone/>
            </a:pPr>
            <a:r>
              <a:rPr lang="en-US" sz="1050" b="1" spc="150" kern="0" dirty="0">
                <a:solidFill>
                  <a:srgbClr val="00C875"/>
                </a:solidFill>
                <a:latin typeface="Calibri" pitchFamily="34" charset="0"/>
                <a:ea typeface="Calibri" pitchFamily="34" charset="-122"/>
                <a:cs typeface="Calibri" pitchFamily="34" charset="-120"/>
              </a:rPr>
              <a:t>THE QUESTION THIS TOOL ANSWERS</a:t>
            </a:r>
            <a:endParaRPr lang="en-US" sz="1050" dirty="0"/>
          </a:p>
        </p:txBody>
      </p:sp>
      <p:sp>
        <p:nvSpPr>
          <p:cNvPr id="13" name="Text 11"/>
          <p:cNvSpPr txBox="1"/>
          <p:nvPr/>
        </p:nvSpPr>
        <p:spPr>
          <a:xfrm>
            <a:off x="7269480" y="2606040"/>
            <a:ext cx="3962095" cy="2651760"/>
          </a:xfrm>
          <a:prstGeom prst="rect">
            <a:avLst/>
          </a:prstGeom>
          <a:noFill/>
          <a:ln/>
        </p:spPr>
        <p:txBody>
          <a:bodyPr wrap="square" lIns="0" tIns="0" rIns="0" bIns="0" rtlCol="0" anchor="ctr"/>
          <a:lstStyle/>
          <a:p>
            <a:pPr indent="0" marL="0">
              <a:lnSpc>
                <a:spcPct val="130000"/>
              </a:lnSpc>
              <a:buNone/>
            </a:pPr>
            <a:r>
              <a:rPr lang="en-US" sz="1900" i="1" dirty="0">
                <a:solidFill>
                  <a:srgbClr val="FFFFFF"/>
                </a:solidFill>
                <a:latin typeface="Cambria" pitchFamily="34" charset="0"/>
                <a:ea typeface="Cambria" pitchFamily="34" charset="-122"/>
                <a:cs typeface="Cambria" pitchFamily="34" charset="-120"/>
              </a:rPr>
              <a:t>“Of everything we could build for one month of matches, what should this city still be using in ten years?”</a:t>
            </a:r>
            <a:endParaRPr lang="en-US" sz="1900" dirty="0"/>
          </a:p>
        </p:txBody>
      </p:sp>
      <p:sp>
        <p:nvSpPr>
          <p:cNvPr id="14" name="Text 12"/>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8C9BC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24326E"/>
          </a:solidFill>
          <a:ln/>
        </p:spPr>
      </p:sp>
      <p:sp>
        <p:nvSpPr>
          <p:cNvPr id="3" name="Shape 1"/>
          <p:cNvSpPr/>
          <p:nvPr/>
        </p:nvSpPr>
        <p:spPr>
          <a:xfrm>
            <a:off x="9601200" y="4754880"/>
            <a:ext cx="4114800" cy="4114800"/>
          </a:xfrm>
          <a:prstGeom prst="ellipse">
            <a:avLst/>
          </a:prstGeom>
          <a:solidFill>
            <a:srgbClr val="00C875">
              <a:alpha val="18000"/>
            </a:srgbClr>
          </a:solidFill>
          <a:ln/>
        </p:spPr>
      </p:sp>
      <p:sp>
        <p:nvSpPr>
          <p:cNvPr id="4" name="Text 2"/>
          <p:cNvSpPr txBox="1"/>
          <p:nvPr/>
        </p:nvSpPr>
        <p:spPr>
          <a:xfrm>
            <a:off x="640080" y="2377440"/>
            <a:ext cx="8229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640080" y="3337560"/>
            <a:ext cx="8229600" cy="457200"/>
          </a:xfrm>
          <a:prstGeom prst="rect">
            <a:avLst/>
          </a:prstGeom>
          <a:noFill/>
          <a:ln/>
        </p:spPr>
        <p:txBody>
          <a:bodyPr wrap="square" lIns="0" tIns="0" rIns="0" bIns="0" rtlCol="0" anchor="ctr"/>
          <a:lstStyle/>
          <a:p>
            <a:pPr indent="0" marL="0">
              <a:buNone/>
            </a:pPr>
            <a:r>
              <a:rPr lang="en-US" sz="1500" dirty="0">
                <a:solidFill>
                  <a:srgbClr val="00C875"/>
                </a:solidFill>
                <a:latin typeface="Calibri" pitchFamily="34" charset="0"/>
                <a:ea typeface="Calibri" pitchFamily="34" charset="-122"/>
                <a:cs typeface="Calibri" pitchFamily="34" charset="-120"/>
              </a:rPr>
              <a:t>World Cup 2026 Host-City Mobility Investment &amp; Legacy Optimizer</a:t>
            </a:r>
            <a:endParaRPr lang="en-US" sz="1500" dirty="0"/>
          </a:p>
        </p:txBody>
      </p:sp>
      <p:sp>
        <p:nvSpPr>
          <p:cNvPr id="6" name="Text 4"/>
          <p:cNvSpPr txBox="1"/>
          <p:nvPr/>
        </p:nvSpPr>
        <p:spPr>
          <a:xfrm>
            <a:off x="640080" y="3931920"/>
            <a:ext cx="8229600" cy="731520"/>
          </a:xfrm>
          <a:prstGeom prst="rect">
            <a:avLst/>
          </a:prstGeom>
          <a:noFill/>
          <a:ln/>
        </p:spPr>
        <p:txBody>
          <a:bodyPr wrap="square" lIns="0" tIns="0" rIns="0" bIns="0"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[Your Team Name]   ·   Track 1: Transportation &amp; Access</a:t>
            </a:r>
            <a:endParaRPr lang="en-US" sz="1300" dirty="0"/>
          </a:p>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Rice University Urban Sustainability Hackathon</a:t>
            </a:r>
            <a:endParaRPr lang="en-US" sz="1300" dirty="0"/>
          </a:p>
        </p:txBody>
      </p:sp>
      <p:sp>
        <p:nvSpPr>
          <p:cNvPr id="7" name="Text 5"/>
          <p:cNvSpPr txBox="1"/>
          <p:nvPr/>
        </p:nvSpPr>
        <p:spPr>
          <a:xfrm>
            <a:off x="640080" y="5120640"/>
            <a:ext cx="8229600" cy="457200"/>
          </a:xfrm>
          <a:prstGeom prst="rect">
            <a:avLst/>
          </a:prstGeom>
          <a:noFill/>
          <a:ln/>
        </p:spPr>
        <p:txBody>
          <a:bodyPr wrap="square" lIns="0" tIns="0" rIns="0" bIns="0" rtlCol="0" anchor="ctr"/>
          <a:lstStyle/>
          <a:p>
            <a:pPr indent="0" marL="0">
              <a:buNone/>
            </a:pPr>
            <a:r>
              <a:rPr lang="en-US" sz="1800" i="1" dirty="0">
                <a:solidFill>
                  <a:srgbClr val="8C9BC2"/>
                </a:solidFill>
                <a:latin typeface="Cambria" pitchFamily="34" charset="0"/>
                <a:ea typeface="Cambria" pitchFamily="34" charset="-122"/>
                <a:cs typeface="Cambria"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2026-09-07T22:08:45Z</dcterms:created>
  <dcterms:modified xsi:type="dcterms:W3CDTF">2026-09-07T22:08:45Z</dcterms:modified>
</cp:coreProperties>
</file>